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1" r:id="rId2"/>
  </p:sldMasterIdLst>
  <p:notesMasterIdLst>
    <p:notesMasterId r:id="rId14"/>
  </p:notesMasterIdLst>
  <p:sldIdLst>
    <p:sldId id="256" r:id="rId3"/>
    <p:sldId id="306" r:id="rId4"/>
    <p:sldId id="311" r:id="rId5"/>
    <p:sldId id="312" r:id="rId6"/>
    <p:sldId id="319" r:id="rId7"/>
    <p:sldId id="313" r:id="rId8"/>
    <p:sldId id="322" r:id="rId9"/>
    <p:sldId id="320" r:id="rId10"/>
    <p:sldId id="321" r:id="rId11"/>
    <p:sldId id="323" r:id="rId12"/>
    <p:sldId id="330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41"/>
    <p:restoredTop sz="94660"/>
  </p:normalViewPr>
  <p:slideViewPr>
    <p:cSldViewPr snapToGrid="0">
      <p:cViewPr>
        <p:scale>
          <a:sx n="92" d="100"/>
          <a:sy n="92" d="100"/>
        </p:scale>
        <p:origin x="1528" y="-1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-8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A54119-1F02-1A4C-A667-49BD8F668DBE}" type="datetimeFigureOut">
              <a:rPr kumimoji="1" lang="zh-CN" altLang="en-US" smtClean="0"/>
              <a:t>2024/12/2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FC2A6F-5C0F-0F48-9013-487D92976A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3127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C2A6F-5C0F-0F48-9013-487D92976A60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142966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C2A6F-5C0F-0F48-9013-487D92976A60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416851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4AC99-2F9C-07C9-0470-C39D54570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3C4669E-7F72-0495-5058-EF84860FB7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0ED7B79-48AB-83B9-1135-E4A8D23B73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1E0951-B8E8-838A-7CCB-5C2B010784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C2A6F-5C0F-0F48-9013-487D92976A60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209759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851F7-121D-4AEB-89D4-7ED6ED890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6CD776D-3F68-DE5A-3D7D-FEEE21A689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9204F0A-33EF-7BA9-FF75-5BECBAF2F8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50A9A1-91F2-1AAC-2541-16AC8A78DB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C2A6F-5C0F-0F48-9013-487D92976A60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7739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37FCB-6468-6EFC-498F-A6582F447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29AD74-AD96-B397-BDEB-4920A57A26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A174F45-8BD8-DEB4-C2C3-D9D4A7B84D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DC5102-3801-6973-FA8D-7163F7F9BA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C2A6F-5C0F-0F48-9013-487D92976A60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880930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E514D-6700-3AFC-289B-A1B8F6B3B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09605C9-5A44-FE69-B108-7F17DF8EFA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D96DE25-3AD7-5A2B-D0B9-6572D0E9C9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AECE09-8C99-D54D-9E07-5E89E43072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C2A6F-5C0F-0F48-9013-487D92976A60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864266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09A00-5F57-0E99-9AC2-BD5CA0A12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1831EB0-DCDA-918C-2C4E-91608764AA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5444617-9C2A-837D-0515-BDA4DE86EC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F473C8-C0A2-004C-61E1-796885F258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C2A6F-5C0F-0F48-9013-487D92976A60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80208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B00F7-2C9D-7085-6B4D-F856CAA4E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83D4BED-540E-199F-3F72-2B9F367D24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F5D5A5A-8E97-3633-B08B-A9CD7C7F3F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6F4E5A-94CC-EA42-9081-7E76D9F528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C2A6F-5C0F-0F48-9013-487D92976A60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98799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第一点：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minmax</a:t>
            </a:r>
            <a:r>
              <a:rPr lang="zh-CN" alt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和 </a:t>
            </a:r>
            <a:r>
              <a:rPr lang="en-US" altLang="zh-CN" sz="1200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maxmin</a:t>
            </a:r>
            <a:r>
              <a:rPr lang="zh-CN" alt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的区别？后者是对偶问题，但是交替极小化的时候，先更新对偶变量和先更新原始变量没有区别；</a:t>
            </a:r>
            <a:endParaRPr lang="en-US" altLang="zh-CN" sz="12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第二点：也就是说，这个正则项，换成另外其他的非凸正则项，只要共轭邻近算子可以求，就都可以用这个算法，并没有很好地体现哈希正则项的特色。</a:t>
            </a:r>
            <a:endParaRPr lang="en-US" altLang="zh-CN" sz="12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7F0B17-20C8-4CBB-BD66-70902ADF39C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64488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846008-B7B8-ABC6-E7D3-7E9F6C61A2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91EEE68-0E41-B894-10ED-42DB3AFA86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BEF0C7-EB12-8EDE-75BF-6D1A324DF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F4074-0A5F-B448-95A9-9F5EE5F33496}" type="datetimeFigureOut">
              <a:rPr kumimoji="1" lang="zh-CN" altLang="en-US" smtClean="0"/>
              <a:t>2024/12/2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0AD00A-165B-4DAE-FAE3-CA6ECC583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FBF99D-0483-D91F-6AC1-701BB1D2B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54BE-7182-A841-9B29-02B2653FB43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76439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C07AF9-1446-9468-128A-FF4F0537D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C8E416-B058-600F-CA64-67268FCBA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0FB4D4-A407-1E28-7DC5-A52A226B4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F4074-0A5F-B448-95A9-9F5EE5F33496}" type="datetimeFigureOut">
              <a:rPr kumimoji="1" lang="zh-CN" altLang="en-US" smtClean="0"/>
              <a:t>2024/12/2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3A23C2-6809-3880-52C7-7D27F4C29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F11529-17DB-01CE-1089-5F8AAE976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54BE-7182-A841-9B29-02B2653FB43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06421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0E89BA-5B76-E33B-E892-8860F7346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E3E1679-923D-2819-6868-B73780D1B0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2EB02D-D465-DCD2-B9AB-7FACE0EEE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F4074-0A5F-B448-95A9-9F5EE5F33496}" type="datetimeFigureOut">
              <a:rPr kumimoji="1" lang="zh-CN" altLang="en-US" smtClean="0"/>
              <a:t>2024/12/2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FDFF59-6348-6100-6012-A983F0697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5E237A-3F01-CBA0-93A5-936054C33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54BE-7182-A841-9B29-02B2653FB43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13441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3CAAE0-3D3B-A857-7DFA-B1BBD009F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6ACA74-07A0-EC49-D841-3CBDF527CE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D38B885-76CF-FF6F-7F80-E61A69DADA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17AB65A-B24A-B5E9-4A4D-46CB9C903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F4074-0A5F-B448-95A9-9F5EE5F33496}" type="datetimeFigureOut">
              <a:rPr kumimoji="1" lang="zh-CN" altLang="en-US" smtClean="0"/>
              <a:t>2024/12/2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FCF600-D139-02EA-0AEC-F9B7C670C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768DA34-36B0-00E7-963F-F281B7AD6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54BE-7182-A841-9B29-02B2653FB43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22474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5EB9F6-D9F9-73CB-B1A9-1BD68E0F4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689F786-B28F-E9BD-459D-82F754AED3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57FCD35-6700-09EA-81DD-C1F8A4DFB0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3CE876A-B634-6CAA-E0B3-82DE26DF8F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59A1ACF-3AA1-18C3-19FB-CF9D3F5A5C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E29FEC1-9394-5D42-88E5-2EAC76486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F4074-0A5F-B448-95A9-9F5EE5F33496}" type="datetimeFigureOut">
              <a:rPr kumimoji="1" lang="zh-CN" altLang="en-US" smtClean="0"/>
              <a:t>2024/12/2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F4CE7F8-A6B4-CD3D-8DC3-F5FCA0925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E9CCFF2-9F60-6F21-711A-EE3D659B5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54BE-7182-A841-9B29-02B2653FB43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30913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0C880-AE30-E47A-AF65-274797EEB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77AF497-6824-7503-9F87-3E6EEE1B4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F4074-0A5F-B448-95A9-9F5EE5F33496}" type="datetimeFigureOut">
              <a:rPr kumimoji="1" lang="zh-CN" altLang="en-US" smtClean="0"/>
              <a:t>2024/12/2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7BD36FC-AC09-3647-05CE-1330D0568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848EF6E-F7ED-1324-8DB8-ECA96BA60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54BE-7182-A841-9B29-02B2653FB43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15529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30A90AC-6C48-BD68-BB36-FA132B5B9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F4074-0A5F-B448-95A9-9F5EE5F33496}" type="datetimeFigureOut">
              <a:rPr kumimoji="1" lang="zh-CN" altLang="en-US" smtClean="0"/>
              <a:t>2024/12/2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8A1DDB0-6191-8B34-685C-C1AD10F04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89E690-1674-69DE-847A-8F43F47DD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54BE-7182-A841-9B29-02B2653FB43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1959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55B8DA-320E-30A8-A68E-0C1C4D321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BD3267-4A7E-A421-C2CD-B6F86A6E1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DCAB37A-AC84-A892-3E2B-3CE2955E70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A7926F-5CC5-ACB2-3F4C-EB5FA3918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F4074-0A5F-B448-95A9-9F5EE5F33496}" type="datetimeFigureOut">
              <a:rPr kumimoji="1" lang="zh-CN" altLang="en-US" smtClean="0"/>
              <a:t>2024/12/2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E48606C-C7F8-35F3-492E-7FD101050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4ACC26-FCEC-7A40-F625-022A1CA97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54BE-7182-A841-9B29-02B2653FB43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91291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1F857E-0D1F-8EBF-F49C-6DFEE3F80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97613A9-7D7C-32DE-3FA1-3C82E0D4DF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9A2E75C-50E7-DFE6-D226-0909123252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50C0AC-B2AC-7D2E-C037-F8684F56E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F4074-0A5F-B448-95A9-9F5EE5F33496}" type="datetimeFigureOut">
              <a:rPr kumimoji="1" lang="zh-CN" altLang="en-US" smtClean="0"/>
              <a:t>2024/12/2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5BEA60-6CA0-D6CB-7E97-CF352A5DC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47245C-C28B-29B8-2018-4244AE0F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54BE-7182-A841-9B29-02B2653FB43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51079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85DBF1-DFA4-444F-A363-3779362F4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038FEEC-25C7-2848-2A4B-E562954495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1ECDA1-A251-4DF2-8CD8-DC918C441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F4074-0A5F-B448-95A9-9F5EE5F33496}" type="datetimeFigureOut">
              <a:rPr kumimoji="1" lang="zh-CN" altLang="en-US" smtClean="0"/>
              <a:t>2024/12/2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BF2BA9-3323-64B6-A48A-47C793F8C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3DDF80-D0CF-BFAA-9132-564462867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54BE-7182-A841-9B29-02B2653FB43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72565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D28DD36-7D10-903E-1050-C894F68D1A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F8A41AE-06F3-3A56-4333-103D7F94B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0E841E-2C0B-B957-9610-3E93D63C9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F4074-0A5F-B448-95A9-9F5EE5F33496}" type="datetimeFigureOut">
              <a:rPr kumimoji="1" lang="zh-CN" altLang="en-US" smtClean="0"/>
              <a:t>2024/12/2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B0DF59-6A63-367B-90D6-10C8E66DD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90B718-3CA5-5060-9573-61B7CEE3D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54BE-7182-A841-9B29-02B2653FB43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042011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图片占位符 14"/>
          <p:cNvSpPr>
            <a:spLocks noGrp="1"/>
          </p:cNvSpPr>
          <p:nvPr>
            <p:ph type="pic" sz="quarter" idx="10"/>
          </p:nvPr>
        </p:nvSpPr>
        <p:spPr>
          <a:xfrm>
            <a:off x="3261138" y="-7830"/>
            <a:ext cx="8944218" cy="6865831"/>
          </a:xfrm>
          <a:custGeom>
            <a:avLst/>
            <a:gdLst>
              <a:gd name="connsiteX0" fmla="*/ 17770 w 8944218"/>
              <a:gd name="connsiteY0" fmla="*/ 0 h 6865831"/>
              <a:gd name="connsiteX1" fmla="*/ 4931600 w 8944218"/>
              <a:gd name="connsiteY1" fmla="*/ 0 h 6865831"/>
              <a:gd name="connsiteX2" fmla="*/ 4938378 w 8944218"/>
              <a:gd name="connsiteY2" fmla="*/ 6778 h 6865831"/>
              <a:gd name="connsiteX3" fmla="*/ 4939431 w 8944218"/>
              <a:gd name="connsiteY3" fmla="*/ 5724 h 6865831"/>
              <a:gd name="connsiteX4" fmla="*/ 4940097 w 8944218"/>
              <a:gd name="connsiteY4" fmla="*/ 6390 h 6865831"/>
              <a:gd name="connsiteX5" fmla="*/ 4946486 w 8944218"/>
              <a:gd name="connsiteY5" fmla="*/ 0 h 6865831"/>
              <a:gd name="connsiteX6" fmla="*/ 8944218 w 8944218"/>
              <a:gd name="connsiteY6" fmla="*/ 0 h 6865831"/>
              <a:gd name="connsiteX7" fmla="*/ 8944218 w 8944218"/>
              <a:gd name="connsiteY7" fmla="*/ 938217 h 6865831"/>
              <a:gd name="connsiteX8" fmla="*/ 8944218 w 8944218"/>
              <a:gd name="connsiteY8" fmla="*/ 951638 h 6865831"/>
              <a:gd name="connsiteX9" fmla="*/ 8944218 w 8944218"/>
              <a:gd name="connsiteY9" fmla="*/ 4018388 h 6865831"/>
              <a:gd name="connsiteX10" fmla="*/ 8944217 w 8944218"/>
              <a:gd name="connsiteY10" fmla="*/ 4018387 h 6865831"/>
              <a:gd name="connsiteX11" fmla="*/ 8944217 w 8944218"/>
              <a:gd name="connsiteY11" fmla="*/ 5877695 h 6865831"/>
              <a:gd name="connsiteX12" fmla="*/ 7956081 w 8944218"/>
              <a:gd name="connsiteY12" fmla="*/ 6865831 h 6865831"/>
              <a:gd name="connsiteX13" fmla="*/ 6852273 w 8944218"/>
              <a:gd name="connsiteY13" fmla="*/ 6865831 h 6865831"/>
              <a:gd name="connsiteX14" fmla="*/ 4940484 w 8944218"/>
              <a:gd name="connsiteY14" fmla="*/ 4954043 h 6865831"/>
              <a:gd name="connsiteX15" fmla="*/ 4939431 w 8944218"/>
              <a:gd name="connsiteY15" fmla="*/ 4955095 h 6865831"/>
              <a:gd name="connsiteX16" fmla="*/ 2475739 w 8944218"/>
              <a:gd name="connsiteY16" fmla="*/ 2491403 h 6865831"/>
              <a:gd name="connsiteX17" fmla="*/ 2474685 w 8944218"/>
              <a:gd name="connsiteY17" fmla="*/ 2492455 h 6865831"/>
              <a:gd name="connsiteX18" fmla="*/ 0 w 8944218"/>
              <a:gd name="connsiteY18" fmla="*/ 17770 h 6865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8944218" h="6865831">
                <a:moveTo>
                  <a:pt x="17770" y="0"/>
                </a:moveTo>
                <a:lnTo>
                  <a:pt x="4931600" y="0"/>
                </a:lnTo>
                <a:lnTo>
                  <a:pt x="4938378" y="6778"/>
                </a:lnTo>
                <a:lnTo>
                  <a:pt x="4939431" y="5724"/>
                </a:lnTo>
                <a:lnTo>
                  <a:pt x="4940097" y="6390"/>
                </a:lnTo>
                <a:lnTo>
                  <a:pt x="4946486" y="0"/>
                </a:lnTo>
                <a:lnTo>
                  <a:pt x="8944218" y="0"/>
                </a:lnTo>
                <a:lnTo>
                  <a:pt x="8944218" y="938217"/>
                </a:lnTo>
                <a:lnTo>
                  <a:pt x="8944218" y="951638"/>
                </a:lnTo>
                <a:lnTo>
                  <a:pt x="8944218" y="4018388"/>
                </a:lnTo>
                <a:lnTo>
                  <a:pt x="8944217" y="4018387"/>
                </a:lnTo>
                <a:lnTo>
                  <a:pt x="8944217" y="5877695"/>
                </a:lnTo>
                <a:lnTo>
                  <a:pt x="7956081" y="6865831"/>
                </a:lnTo>
                <a:lnTo>
                  <a:pt x="6852273" y="6865831"/>
                </a:lnTo>
                <a:lnTo>
                  <a:pt x="4940484" y="4954043"/>
                </a:lnTo>
                <a:lnTo>
                  <a:pt x="4939431" y="4955095"/>
                </a:lnTo>
                <a:lnTo>
                  <a:pt x="2475739" y="2491403"/>
                </a:lnTo>
                <a:lnTo>
                  <a:pt x="2474685" y="2492455"/>
                </a:lnTo>
                <a:lnTo>
                  <a:pt x="0" y="1777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26A25FE-E770-038E-E744-57202C74424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104605" y="6627426"/>
            <a:ext cx="1087393" cy="26161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lang="en-US" altLang="zh-CN" sz="1100" kern="120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algn="ctr"/>
            <a:fld id="{DF45F8CD-A4FA-4EA3-B53F-4C1A83FF92F6}" type="slidenum">
              <a:rPr lang="en-US" altLang="zh-CN" smtClean="0"/>
              <a:pPr algn="ctr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991580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AFD87880-FD46-9C48-8DB7-CAB4C1C210B6}" type="datetime1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EA1AAA2-24F5-4178-ABF7-E5D335A3FD3D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2154297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A4C60-1E55-D44F-B0C6-C504E52DFB4B}" type="datetime1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1AAA2-24F5-4178-ABF7-E5D335A3FD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40635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A1F0D6C-E6C1-0946-BF20-CBA82F1CCDDB}" type="datetime1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EA1AAA2-24F5-4178-ABF7-E5D335A3FD3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8967936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05604-8A16-9541-B773-CD6EB0F02D8C}" type="datetime1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1AAA2-24F5-4178-ABF7-E5D335A3FD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38075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879BA-1681-9C44-A307-22DF2573D592}" type="datetime1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1AAA2-24F5-4178-ABF7-E5D335A3FD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783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3282B-AB24-174A-8747-AE34642A26B2}" type="datetime1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1AAA2-24F5-4178-ABF7-E5D335A3FD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42455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EE1E9-6EF2-5E4E-BE4D-2000E1100A82}" type="datetime1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1AAA2-24F5-4178-ABF7-E5D335A3FD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85346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10FBF5E-6DE2-7A4E-8613-2DF0AD886050}" type="datetime1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EA1AAA2-24F5-4178-ABF7-E5D335A3FD3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680859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62F0CBD-643B-5F48-959E-E57E29A8CBB0}" type="datetime1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EA1AAA2-24F5-4178-ABF7-E5D335A3FD3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806312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EEDB6-9604-F542-A9DC-90227ECE1F35}" type="datetime1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1AAA2-24F5-4178-ABF7-E5D335A3FD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0201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9E109-D3A0-C843-B2C9-92C71F172EA3}" type="datetime1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1AAA2-24F5-4178-ABF7-E5D335A3FD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70504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图片占位符 14"/>
          <p:cNvSpPr>
            <a:spLocks noGrp="1"/>
          </p:cNvSpPr>
          <p:nvPr>
            <p:ph type="pic" sz="quarter" idx="10"/>
          </p:nvPr>
        </p:nvSpPr>
        <p:spPr>
          <a:xfrm>
            <a:off x="3261138" y="-7830"/>
            <a:ext cx="8944218" cy="6865831"/>
          </a:xfrm>
          <a:custGeom>
            <a:avLst/>
            <a:gdLst>
              <a:gd name="connsiteX0" fmla="*/ 17770 w 8944218"/>
              <a:gd name="connsiteY0" fmla="*/ 0 h 6865831"/>
              <a:gd name="connsiteX1" fmla="*/ 4931600 w 8944218"/>
              <a:gd name="connsiteY1" fmla="*/ 0 h 6865831"/>
              <a:gd name="connsiteX2" fmla="*/ 4938378 w 8944218"/>
              <a:gd name="connsiteY2" fmla="*/ 6778 h 6865831"/>
              <a:gd name="connsiteX3" fmla="*/ 4939431 w 8944218"/>
              <a:gd name="connsiteY3" fmla="*/ 5724 h 6865831"/>
              <a:gd name="connsiteX4" fmla="*/ 4940097 w 8944218"/>
              <a:gd name="connsiteY4" fmla="*/ 6390 h 6865831"/>
              <a:gd name="connsiteX5" fmla="*/ 4946486 w 8944218"/>
              <a:gd name="connsiteY5" fmla="*/ 0 h 6865831"/>
              <a:gd name="connsiteX6" fmla="*/ 8944218 w 8944218"/>
              <a:gd name="connsiteY6" fmla="*/ 0 h 6865831"/>
              <a:gd name="connsiteX7" fmla="*/ 8944218 w 8944218"/>
              <a:gd name="connsiteY7" fmla="*/ 938217 h 6865831"/>
              <a:gd name="connsiteX8" fmla="*/ 8944218 w 8944218"/>
              <a:gd name="connsiteY8" fmla="*/ 951638 h 6865831"/>
              <a:gd name="connsiteX9" fmla="*/ 8944218 w 8944218"/>
              <a:gd name="connsiteY9" fmla="*/ 4018388 h 6865831"/>
              <a:gd name="connsiteX10" fmla="*/ 8944217 w 8944218"/>
              <a:gd name="connsiteY10" fmla="*/ 4018387 h 6865831"/>
              <a:gd name="connsiteX11" fmla="*/ 8944217 w 8944218"/>
              <a:gd name="connsiteY11" fmla="*/ 5877695 h 6865831"/>
              <a:gd name="connsiteX12" fmla="*/ 7956081 w 8944218"/>
              <a:gd name="connsiteY12" fmla="*/ 6865831 h 6865831"/>
              <a:gd name="connsiteX13" fmla="*/ 6852273 w 8944218"/>
              <a:gd name="connsiteY13" fmla="*/ 6865831 h 6865831"/>
              <a:gd name="connsiteX14" fmla="*/ 4940484 w 8944218"/>
              <a:gd name="connsiteY14" fmla="*/ 4954043 h 6865831"/>
              <a:gd name="connsiteX15" fmla="*/ 4939431 w 8944218"/>
              <a:gd name="connsiteY15" fmla="*/ 4955095 h 6865831"/>
              <a:gd name="connsiteX16" fmla="*/ 2475739 w 8944218"/>
              <a:gd name="connsiteY16" fmla="*/ 2491403 h 6865831"/>
              <a:gd name="connsiteX17" fmla="*/ 2474685 w 8944218"/>
              <a:gd name="connsiteY17" fmla="*/ 2492455 h 6865831"/>
              <a:gd name="connsiteX18" fmla="*/ 0 w 8944218"/>
              <a:gd name="connsiteY18" fmla="*/ 17770 h 6865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8944218" h="6865831">
                <a:moveTo>
                  <a:pt x="17770" y="0"/>
                </a:moveTo>
                <a:lnTo>
                  <a:pt x="4931600" y="0"/>
                </a:lnTo>
                <a:lnTo>
                  <a:pt x="4938378" y="6778"/>
                </a:lnTo>
                <a:lnTo>
                  <a:pt x="4939431" y="5724"/>
                </a:lnTo>
                <a:lnTo>
                  <a:pt x="4940097" y="6390"/>
                </a:lnTo>
                <a:lnTo>
                  <a:pt x="4946486" y="0"/>
                </a:lnTo>
                <a:lnTo>
                  <a:pt x="8944218" y="0"/>
                </a:lnTo>
                <a:lnTo>
                  <a:pt x="8944218" y="938217"/>
                </a:lnTo>
                <a:lnTo>
                  <a:pt x="8944218" y="951638"/>
                </a:lnTo>
                <a:lnTo>
                  <a:pt x="8944218" y="4018388"/>
                </a:lnTo>
                <a:lnTo>
                  <a:pt x="8944217" y="4018387"/>
                </a:lnTo>
                <a:lnTo>
                  <a:pt x="8944217" y="5877695"/>
                </a:lnTo>
                <a:lnTo>
                  <a:pt x="7956081" y="6865831"/>
                </a:lnTo>
                <a:lnTo>
                  <a:pt x="6852273" y="6865831"/>
                </a:lnTo>
                <a:lnTo>
                  <a:pt x="4940484" y="4954043"/>
                </a:lnTo>
                <a:lnTo>
                  <a:pt x="4939431" y="4955095"/>
                </a:lnTo>
                <a:lnTo>
                  <a:pt x="2475739" y="2491403"/>
                </a:lnTo>
                <a:lnTo>
                  <a:pt x="2474685" y="2492455"/>
                </a:lnTo>
                <a:lnTo>
                  <a:pt x="0" y="1777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26A25FE-E770-038E-E744-57202C74424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104605" y="6627426"/>
            <a:ext cx="1087393" cy="26161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lang="en-US" altLang="zh-CN" sz="1100" kern="120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algn="ctr"/>
            <a:fld id="{DF45F8CD-A4FA-4EA3-B53F-4C1A83FF92F6}" type="slidenum">
              <a:rPr lang="en-US" altLang="zh-CN" smtClean="0"/>
              <a:pPr algn="ctr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253685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4100870" y="1641487"/>
            <a:ext cx="3708001" cy="2347284"/>
          </a:xfrm>
          <a:custGeom>
            <a:avLst/>
            <a:gdLst>
              <a:gd name="connsiteX0" fmla="*/ 0 w 3708001"/>
              <a:gd name="connsiteY0" fmla="*/ 0 h 2347284"/>
              <a:gd name="connsiteX1" fmla="*/ 3708001 w 3708001"/>
              <a:gd name="connsiteY1" fmla="*/ 0 h 2347284"/>
              <a:gd name="connsiteX2" fmla="*/ 3708001 w 3708001"/>
              <a:gd name="connsiteY2" fmla="*/ 2347284 h 2347284"/>
              <a:gd name="connsiteX3" fmla="*/ 0 w 3708001"/>
              <a:gd name="connsiteY3" fmla="*/ 2347284 h 2347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08001" h="2347284">
                <a:moveTo>
                  <a:pt x="0" y="0"/>
                </a:moveTo>
                <a:lnTo>
                  <a:pt x="3708001" y="0"/>
                </a:lnTo>
                <a:lnTo>
                  <a:pt x="3708001" y="2347284"/>
                </a:lnTo>
                <a:lnTo>
                  <a:pt x="0" y="234728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1"/>
          </p:nvPr>
        </p:nvSpPr>
        <p:spPr>
          <a:xfrm>
            <a:off x="7979202" y="1641488"/>
            <a:ext cx="3323559" cy="2051173"/>
          </a:xfrm>
          <a:custGeom>
            <a:avLst/>
            <a:gdLst>
              <a:gd name="connsiteX0" fmla="*/ 0 w 3323559"/>
              <a:gd name="connsiteY0" fmla="*/ 0 h 2051173"/>
              <a:gd name="connsiteX1" fmla="*/ 3323559 w 3323559"/>
              <a:gd name="connsiteY1" fmla="*/ 0 h 2051173"/>
              <a:gd name="connsiteX2" fmla="*/ 3323559 w 3323559"/>
              <a:gd name="connsiteY2" fmla="*/ 2051173 h 2051173"/>
              <a:gd name="connsiteX3" fmla="*/ 0 w 3323559"/>
              <a:gd name="connsiteY3" fmla="*/ 2051173 h 2051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23559" h="2051173">
                <a:moveTo>
                  <a:pt x="0" y="0"/>
                </a:moveTo>
                <a:lnTo>
                  <a:pt x="3323559" y="0"/>
                </a:lnTo>
                <a:lnTo>
                  <a:pt x="3323559" y="2051173"/>
                </a:lnTo>
                <a:lnTo>
                  <a:pt x="0" y="205117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2"/>
          </p:nvPr>
        </p:nvSpPr>
        <p:spPr>
          <a:xfrm>
            <a:off x="874714" y="4172231"/>
            <a:ext cx="6934157" cy="1765008"/>
          </a:xfrm>
          <a:custGeom>
            <a:avLst/>
            <a:gdLst>
              <a:gd name="connsiteX0" fmla="*/ 0 w 6934157"/>
              <a:gd name="connsiteY0" fmla="*/ 0 h 1765008"/>
              <a:gd name="connsiteX1" fmla="*/ 6934157 w 6934157"/>
              <a:gd name="connsiteY1" fmla="*/ 0 h 1765008"/>
              <a:gd name="connsiteX2" fmla="*/ 6934157 w 6934157"/>
              <a:gd name="connsiteY2" fmla="*/ 1765008 h 1765008"/>
              <a:gd name="connsiteX3" fmla="*/ 0 w 6934157"/>
              <a:gd name="connsiteY3" fmla="*/ 1765008 h 1765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34157" h="1765008">
                <a:moveTo>
                  <a:pt x="0" y="0"/>
                </a:moveTo>
                <a:lnTo>
                  <a:pt x="6934157" y="0"/>
                </a:lnTo>
                <a:lnTo>
                  <a:pt x="6934157" y="1765008"/>
                </a:lnTo>
                <a:lnTo>
                  <a:pt x="0" y="176500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498B8C4-49BF-EA5F-2D29-AC4981C4755C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961FB632-6B0A-F044-8002-20EF88C59FEA}" type="datetime1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A4D152B-7272-5499-5178-96D87476B84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559CC4-F17C-B541-918B-F217A74553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EA1AAA2-24F5-4178-ABF7-E5D335A3FD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79236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1413036" y="1986039"/>
            <a:ext cx="2864878" cy="2456948"/>
          </a:xfrm>
          <a:custGeom>
            <a:avLst/>
            <a:gdLst>
              <a:gd name="connsiteX0" fmla="*/ 614238 w 2864878"/>
              <a:gd name="connsiteY0" fmla="*/ 0 h 2456948"/>
              <a:gd name="connsiteX1" fmla="*/ 2250641 w 2864878"/>
              <a:gd name="connsiteY1" fmla="*/ 0 h 2456948"/>
              <a:gd name="connsiteX2" fmla="*/ 2864878 w 2864878"/>
              <a:gd name="connsiteY2" fmla="*/ 1228474 h 2456948"/>
              <a:gd name="connsiteX3" fmla="*/ 2250641 w 2864878"/>
              <a:gd name="connsiteY3" fmla="*/ 2456948 h 2456948"/>
              <a:gd name="connsiteX4" fmla="*/ 614238 w 2864878"/>
              <a:gd name="connsiteY4" fmla="*/ 2456948 h 2456948"/>
              <a:gd name="connsiteX5" fmla="*/ 0 w 2864878"/>
              <a:gd name="connsiteY5" fmla="*/ 1228474 h 2456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64878" h="2456948">
                <a:moveTo>
                  <a:pt x="614238" y="0"/>
                </a:moveTo>
                <a:lnTo>
                  <a:pt x="2250641" y="0"/>
                </a:lnTo>
                <a:lnTo>
                  <a:pt x="2864878" y="1228474"/>
                </a:lnTo>
                <a:lnTo>
                  <a:pt x="2250641" y="2456948"/>
                </a:lnTo>
                <a:lnTo>
                  <a:pt x="614238" y="2456948"/>
                </a:lnTo>
                <a:lnTo>
                  <a:pt x="0" y="122847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1"/>
          </p:nvPr>
        </p:nvSpPr>
        <p:spPr>
          <a:xfrm>
            <a:off x="4670586" y="1986039"/>
            <a:ext cx="2864878" cy="2456948"/>
          </a:xfrm>
          <a:custGeom>
            <a:avLst/>
            <a:gdLst>
              <a:gd name="connsiteX0" fmla="*/ 614238 w 2864878"/>
              <a:gd name="connsiteY0" fmla="*/ 0 h 2456948"/>
              <a:gd name="connsiteX1" fmla="*/ 2250641 w 2864878"/>
              <a:gd name="connsiteY1" fmla="*/ 0 h 2456948"/>
              <a:gd name="connsiteX2" fmla="*/ 2864878 w 2864878"/>
              <a:gd name="connsiteY2" fmla="*/ 1228474 h 2456948"/>
              <a:gd name="connsiteX3" fmla="*/ 2250641 w 2864878"/>
              <a:gd name="connsiteY3" fmla="*/ 2456948 h 2456948"/>
              <a:gd name="connsiteX4" fmla="*/ 614238 w 2864878"/>
              <a:gd name="connsiteY4" fmla="*/ 2456948 h 2456948"/>
              <a:gd name="connsiteX5" fmla="*/ 0 w 2864878"/>
              <a:gd name="connsiteY5" fmla="*/ 1228474 h 2456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64878" h="2456948">
                <a:moveTo>
                  <a:pt x="614238" y="0"/>
                </a:moveTo>
                <a:lnTo>
                  <a:pt x="2250641" y="0"/>
                </a:lnTo>
                <a:lnTo>
                  <a:pt x="2864878" y="1228474"/>
                </a:lnTo>
                <a:lnTo>
                  <a:pt x="2250641" y="2456948"/>
                </a:lnTo>
                <a:lnTo>
                  <a:pt x="614238" y="2456948"/>
                </a:lnTo>
                <a:lnTo>
                  <a:pt x="0" y="122847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2"/>
          </p:nvPr>
        </p:nvSpPr>
        <p:spPr>
          <a:xfrm>
            <a:off x="7928136" y="1986039"/>
            <a:ext cx="2864878" cy="2456948"/>
          </a:xfrm>
          <a:custGeom>
            <a:avLst/>
            <a:gdLst>
              <a:gd name="connsiteX0" fmla="*/ 614238 w 2864878"/>
              <a:gd name="connsiteY0" fmla="*/ 0 h 2456948"/>
              <a:gd name="connsiteX1" fmla="*/ 2250641 w 2864878"/>
              <a:gd name="connsiteY1" fmla="*/ 0 h 2456948"/>
              <a:gd name="connsiteX2" fmla="*/ 2864878 w 2864878"/>
              <a:gd name="connsiteY2" fmla="*/ 1228474 h 2456948"/>
              <a:gd name="connsiteX3" fmla="*/ 2250641 w 2864878"/>
              <a:gd name="connsiteY3" fmla="*/ 2456948 h 2456948"/>
              <a:gd name="connsiteX4" fmla="*/ 614238 w 2864878"/>
              <a:gd name="connsiteY4" fmla="*/ 2456948 h 2456948"/>
              <a:gd name="connsiteX5" fmla="*/ 0 w 2864878"/>
              <a:gd name="connsiteY5" fmla="*/ 1228474 h 2456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64878" h="2456948">
                <a:moveTo>
                  <a:pt x="614238" y="0"/>
                </a:moveTo>
                <a:lnTo>
                  <a:pt x="2250641" y="0"/>
                </a:lnTo>
                <a:lnTo>
                  <a:pt x="2864878" y="1228474"/>
                </a:lnTo>
                <a:lnTo>
                  <a:pt x="2250641" y="2456948"/>
                </a:lnTo>
                <a:lnTo>
                  <a:pt x="614238" y="2456948"/>
                </a:lnTo>
                <a:lnTo>
                  <a:pt x="0" y="122847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388AAC4-12BC-2A52-3570-2C9BD933CAB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27581E87-B6C0-4841-994A-0E432BE16649}" type="datetime1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8CECDD2-C3C3-9179-C777-EF5B0DD2D24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BE650D-4936-63B2-C3C1-BA0ADCE5A44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EA1AAA2-24F5-4178-ABF7-E5D335A3FD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315295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片占位符 11"/>
          <p:cNvSpPr>
            <a:spLocks noGrp="1"/>
          </p:cNvSpPr>
          <p:nvPr>
            <p:ph type="pic" sz="quarter" idx="10"/>
          </p:nvPr>
        </p:nvSpPr>
        <p:spPr>
          <a:xfrm>
            <a:off x="1229664" y="1955801"/>
            <a:ext cx="1641860" cy="1624794"/>
          </a:xfrm>
          <a:custGeom>
            <a:avLst/>
            <a:gdLst>
              <a:gd name="connsiteX0" fmla="*/ 820930 w 1641860"/>
              <a:gd name="connsiteY0" fmla="*/ 0 h 1624794"/>
              <a:gd name="connsiteX1" fmla="*/ 1641860 w 1641860"/>
              <a:gd name="connsiteY1" fmla="*/ 812397 h 1624794"/>
              <a:gd name="connsiteX2" fmla="*/ 820930 w 1641860"/>
              <a:gd name="connsiteY2" fmla="*/ 1624794 h 1624794"/>
              <a:gd name="connsiteX3" fmla="*/ 0 w 1641860"/>
              <a:gd name="connsiteY3" fmla="*/ 812397 h 1624794"/>
              <a:gd name="connsiteX4" fmla="*/ 820930 w 1641860"/>
              <a:gd name="connsiteY4" fmla="*/ 0 h 162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1860" h="1624794">
                <a:moveTo>
                  <a:pt x="820930" y="0"/>
                </a:moveTo>
                <a:cubicBezTo>
                  <a:pt x="1274317" y="0"/>
                  <a:pt x="1641860" y="363723"/>
                  <a:pt x="1641860" y="812397"/>
                </a:cubicBezTo>
                <a:cubicBezTo>
                  <a:pt x="1641860" y="1261071"/>
                  <a:pt x="1274317" y="1624794"/>
                  <a:pt x="820930" y="1624794"/>
                </a:cubicBezTo>
                <a:cubicBezTo>
                  <a:pt x="367543" y="1624794"/>
                  <a:pt x="0" y="1261071"/>
                  <a:pt x="0" y="812397"/>
                </a:cubicBezTo>
                <a:cubicBezTo>
                  <a:pt x="0" y="363723"/>
                  <a:pt x="367543" y="0"/>
                  <a:pt x="82093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1"/>
          </p:nvPr>
        </p:nvSpPr>
        <p:spPr>
          <a:xfrm>
            <a:off x="3841929" y="1955801"/>
            <a:ext cx="1641860" cy="1624794"/>
          </a:xfrm>
          <a:custGeom>
            <a:avLst/>
            <a:gdLst>
              <a:gd name="connsiteX0" fmla="*/ 820930 w 1641860"/>
              <a:gd name="connsiteY0" fmla="*/ 0 h 1624794"/>
              <a:gd name="connsiteX1" fmla="*/ 1641860 w 1641860"/>
              <a:gd name="connsiteY1" fmla="*/ 812397 h 1624794"/>
              <a:gd name="connsiteX2" fmla="*/ 820930 w 1641860"/>
              <a:gd name="connsiteY2" fmla="*/ 1624794 h 1624794"/>
              <a:gd name="connsiteX3" fmla="*/ 0 w 1641860"/>
              <a:gd name="connsiteY3" fmla="*/ 812397 h 1624794"/>
              <a:gd name="connsiteX4" fmla="*/ 820930 w 1641860"/>
              <a:gd name="connsiteY4" fmla="*/ 0 h 162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1860" h="1624794">
                <a:moveTo>
                  <a:pt x="820930" y="0"/>
                </a:moveTo>
                <a:cubicBezTo>
                  <a:pt x="1274317" y="0"/>
                  <a:pt x="1641860" y="363723"/>
                  <a:pt x="1641860" y="812397"/>
                </a:cubicBezTo>
                <a:cubicBezTo>
                  <a:pt x="1641860" y="1261071"/>
                  <a:pt x="1274317" y="1624794"/>
                  <a:pt x="820930" y="1624794"/>
                </a:cubicBezTo>
                <a:cubicBezTo>
                  <a:pt x="367543" y="1624794"/>
                  <a:pt x="0" y="1261071"/>
                  <a:pt x="0" y="812397"/>
                </a:cubicBezTo>
                <a:cubicBezTo>
                  <a:pt x="0" y="363723"/>
                  <a:pt x="367543" y="0"/>
                  <a:pt x="82093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" name="图片占位符 13"/>
          <p:cNvSpPr>
            <a:spLocks noGrp="1"/>
          </p:cNvSpPr>
          <p:nvPr>
            <p:ph type="pic" sz="quarter" idx="12"/>
          </p:nvPr>
        </p:nvSpPr>
        <p:spPr>
          <a:xfrm>
            <a:off x="6454193" y="1955801"/>
            <a:ext cx="1641860" cy="1624794"/>
          </a:xfrm>
          <a:custGeom>
            <a:avLst/>
            <a:gdLst>
              <a:gd name="connsiteX0" fmla="*/ 820930 w 1641860"/>
              <a:gd name="connsiteY0" fmla="*/ 0 h 1624794"/>
              <a:gd name="connsiteX1" fmla="*/ 1641860 w 1641860"/>
              <a:gd name="connsiteY1" fmla="*/ 812397 h 1624794"/>
              <a:gd name="connsiteX2" fmla="*/ 820930 w 1641860"/>
              <a:gd name="connsiteY2" fmla="*/ 1624794 h 1624794"/>
              <a:gd name="connsiteX3" fmla="*/ 0 w 1641860"/>
              <a:gd name="connsiteY3" fmla="*/ 812397 h 1624794"/>
              <a:gd name="connsiteX4" fmla="*/ 820930 w 1641860"/>
              <a:gd name="connsiteY4" fmla="*/ 0 h 162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1860" h="1624794">
                <a:moveTo>
                  <a:pt x="820930" y="0"/>
                </a:moveTo>
                <a:cubicBezTo>
                  <a:pt x="1274317" y="0"/>
                  <a:pt x="1641860" y="363723"/>
                  <a:pt x="1641860" y="812397"/>
                </a:cubicBezTo>
                <a:cubicBezTo>
                  <a:pt x="1641860" y="1261071"/>
                  <a:pt x="1274317" y="1624794"/>
                  <a:pt x="820930" y="1624794"/>
                </a:cubicBezTo>
                <a:cubicBezTo>
                  <a:pt x="367543" y="1624794"/>
                  <a:pt x="0" y="1261071"/>
                  <a:pt x="0" y="812397"/>
                </a:cubicBezTo>
                <a:cubicBezTo>
                  <a:pt x="0" y="363723"/>
                  <a:pt x="367543" y="0"/>
                  <a:pt x="82093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3"/>
          </p:nvPr>
        </p:nvSpPr>
        <p:spPr>
          <a:xfrm>
            <a:off x="9066458" y="1955801"/>
            <a:ext cx="1641860" cy="1624794"/>
          </a:xfrm>
          <a:custGeom>
            <a:avLst/>
            <a:gdLst>
              <a:gd name="connsiteX0" fmla="*/ 820930 w 1641860"/>
              <a:gd name="connsiteY0" fmla="*/ 0 h 1624794"/>
              <a:gd name="connsiteX1" fmla="*/ 1641860 w 1641860"/>
              <a:gd name="connsiteY1" fmla="*/ 812397 h 1624794"/>
              <a:gd name="connsiteX2" fmla="*/ 820930 w 1641860"/>
              <a:gd name="connsiteY2" fmla="*/ 1624794 h 1624794"/>
              <a:gd name="connsiteX3" fmla="*/ 0 w 1641860"/>
              <a:gd name="connsiteY3" fmla="*/ 812397 h 1624794"/>
              <a:gd name="connsiteX4" fmla="*/ 820930 w 1641860"/>
              <a:gd name="connsiteY4" fmla="*/ 0 h 162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1860" h="1624794">
                <a:moveTo>
                  <a:pt x="820930" y="0"/>
                </a:moveTo>
                <a:cubicBezTo>
                  <a:pt x="1274317" y="0"/>
                  <a:pt x="1641860" y="363723"/>
                  <a:pt x="1641860" y="812397"/>
                </a:cubicBezTo>
                <a:cubicBezTo>
                  <a:pt x="1641860" y="1261071"/>
                  <a:pt x="1274317" y="1624794"/>
                  <a:pt x="820930" y="1624794"/>
                </a:cubicBezTo>
                <a:cubicBezTo>
                  <a:pt x="367543" y="1624794"/>
                  <a:pt x="0" y="1261071"/>
                  <a:pt x="0" y="812397"/>
                </a:cubicBezTo>
                <a:cubicBezTo>
                  <a:pt x="0" y="363723"/>
                  <a:pt x="367543" y="0"/>
                  <a:pt x="82093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FA5072F-1C73-3749-045A-3D97A39E315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2CBF6DD-E2B1-1F4C-BB3F-853A34816A60}" type="datetime1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8B2C467-EE81-42A5-55F6-E0D836CD685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9DC6-4845-1DA6-8212-6EAC3DE505F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EA1AAA2-24F5-4178-ABF7-E5D335A3FD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49688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3844246" y="1694329"/>
            <a:ext cx="4548647" cy="2861134"/>
          </a:xfrm>
          <a:custGeom>
            <a:avLst/>
            <a:gdLst>
              <a:gd name="connsiteX0" fmla="*/ 0 w 4548647"/>
              <a:gd name="connsiteY0" fmla="*/ 0 h 2861134"/>
              <a:gd name="connsiteX1" fmla="*/ 4548647 w 4548647"/>
              <a:gd name="connsiteY1" fmla="*/ 0 h 2861134"/>
              <a:gd name="connsiteX2" fmla="*/ 4548647 w 4548647"/>
              <a:gd name="connsiteY2" fmla="*/ 2861134 h 2861134"/>
              <a:gd name="connsiteX3" fmla="*/ 0 w 4548647"/>
              <a:gd name="connsiteY3" fmla="*/ 2861134 h 2861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48647" h="2861134">
                <a:moveTo>
                  <a:pt x="0" y="0"/>
                </a:moveTo>
                <a:lnTo>
                  <a:pt x="4548647" y="0"/>
                </a:lnTo>
                <a:lnTo>
                  <a:pt x="4548647" y="2861134"/>
                </a:lnTo>
                <a:lnTo>
                  <a:pt x="0" y="2861134"/>
                </a:lnTo>
                <a:close/>
              </a:path>
            </a:pathLst>
          </a:custGeom>
          <a:solidFill>
            <a:schemeClr val="bg2"/>
          </a:solidFill>
          <a:effectLst>
            <a:innerShdw blurRad="114300">
              <a:prstClr val="black"/>
            </a:innerShdw>
          </a:effectLst>
        </p:spPr>
        <p:txBody>
          <a:bodyPr wrap="square">
            <a:noAutofit/>
          </a:bodyPr>
          <a:lstStyle>
            <a:lvl1pPr>
              <a:defRPr lang="zh-CN" altLang="en-US"/>
            </a:lvl1pPr>
          </a:lstStyle>
          <a:p>
            <a:pPr lvl="0"/>
            <a:endParaRPr lang="zh-CN" altLang="en-US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CA3E76E-AF8C-3612-E9CF-B72299E55BC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6934C13-5DFB-D04B-AED0-DA0234260BBA}" type="datetime1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B560B04-199D-7F6C-BCD7-32B094AC912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2D6958-9AC4-1B0E-7913-7327796E573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EA1AAA2-24F5-4178-ABF7-E5D335A3FD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03905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5354013" y="3273328"/>
            <a:ext cx="1514686" cy="2442137"/>
          </a:xfrm>
          <a:custGeom>
            <a:avLst/>
            <a:gdLst>
              <a:gd name="connsiteX0" fmla="*/ 0 w 1514686"/>
              <a:gd name="connsiteY0" fmla="*/ 0 h 2442137"/>
              <a:gd name="connsiteX1" fmla="*/ 1514686 w 1514686"/>
              <a:gd name="connsiteY1" fmla="*/ 0 h 2442137"/>
              <a:gd name="connsiteX2" fmla="*/ 1514686 w 1514686"/>
              <a:gd name="connsiteY2" fmla="*/ 2442137 h 2442137"/>
              <a:gd name="connsiteX3" fmla="*/ 0 w 1514686"/>
              <a:gd name="connsiteY3" fmla="*/ 2442137 h 2442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4686" h="2442137">
                <a:moveTo>
                  <a:pt x="0" y="0"/>
                </a:moveTo>
                <a:lnTo>
                  <a:pt x="1514686" y="0"/>
                </a:lnTo>
                <a:lnTo>
                  <a:pt x="1514686" y="2442137"/>
                </a:lnTo>
                <a:lnTo>
                  <a:pt x="0" y="2442137"/>
                </a:lnTo>
                <a:close/>
              </a:path>
            </a:pathLst>
          </a:custGeom>
          <a:solidFill>
            <a:schemeClr val="bg2"/>
          </a:solidFill>
          <a:effectLst>
            <a:innerShdw blurRad="114300">
              <a:prstClr val="black"/>
            </a:inn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5EAF851-5489-0ECE-EA2D-7EE71DD6FBA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D8287D7B-5B6C-B14F-9A8D-B3CC1B92C425}" type="datetime1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FF165A6-C84F-7BBE-C582-94F2E57D96F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7292D8-89A9-6215-795F-47A91C8EE4A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EA1AAA2-24F5-4178-ABF7-E5D335A3FD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3305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9388A29-1292-A3AD-3038-540A1649F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BC25A25-3FA5-4145-1755-B1B4EB523D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6A7F21-1507-4D80-690C-DC38AB44D8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F4074-0A5F-B448-95A9-9F5EE5F33496}" type="datetimeFigureOut">
              <a:rPr kumimoji="1" lang="zh-CN" altLang="en-US" smtClean="0"/>
              <a:t>2024/12/2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D9E615-BC4D-C79B-07E2-6654B95C1B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433023-C6B5-E1BD-783C-D63314100C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54BE-7182-A841-9B29-02B2653FB43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44547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08AA8DA3-1535-054F-9D2C-AABC61A9C80B}" type="datetime1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1EA1AAA2-24F5-4178-ABF7-E5D335A3FD3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D42C089-DDDD-0866-D4FE-FBE3F747DAB1}"/>
              </a:ext>
            </a:extLst>
          </p:cNvPr>
          <p:cNvSpPr/>
          <p:nvPr userDrawn="1"/>
        </p:nvSpPr>
        <p:spPr>
          <a:xfrm>
            <a:off x="1" y="-1"/>
            <a:ext cx="12192000" cy="794327"/>
          </a:xfrm>
          <a:prstGeom prst="rect">
            <a:avLst/>
          </a:prstGeom>
          <a:solidFill>
            <a:srgbClr val="233E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E6FDEA9-796C-CAA4-3C74-5315BBBB39B6}"/>
              </a:ext>
            </a:extLst>
          </p:cNvPr>
          <p:cNvSpPr/>
          <p:nvPr userDrawn="1"/>
        </p:nvSpPr>
        <p:spPr>
          <a:xfrm>
            <a:off x="1" y="6659419"/>
            <a:ext cx="12192000" cy="198582"/>
          </a:xfrm>
          <a:prstGeom prst="rect">
            <a:avLst/>
          </a:prstGeom>
          <a:solidFill>
            <a:srgbClr val="233E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0473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</p:sldLayoutIdLst>
  <p:hf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5479D8-08EC-A74A-53DA-8B7FF82442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4385" y="1041400"/>
            <a:ext cx="9503229" cy="2387600"/>
          </a:xfrm>
        </p:spPr>
        <p:txBody>
          <a:bodyPr>
            <a:normAutofit fontScale="90000"/>
          </a:bodyPr>
          <a:lstStyle/>
          <a:p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new primal dual method for fully nonconvex composite optimization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84FEFF8-AC4E-D7CC-1CD7-0871ABD867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048353"/>
            <a:ext cx="9144000" cy="1655762"/>
          </a:xfr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Yu Gothic UI" panose="020B0500000000000000" pitchFamily="34" charset="-128"/>
                <a:cs typeface="Times New Roman" panose="02020603050405020304" pitchFamily="18" charset="0"/>
              </a:rPr>
              <a:t> School of Mathematical Sciences, </a:t>
            </a:r>
            <a:r>
              <a:rPr kumimoji="0" lang="en" altLang="zh-CN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Yu Gothic UI" panose="020B0500000000000000" pitchFamily="34" charset="-128"/>
                <a:cs typeface="Times New Roman" panose="02020603050405020304" pitchFamily="18" charset="0"/>
              </a:rPr>
              <a:t>Beihang</a:t>
            </a:r>
            <a:r>
              <a:rPr kumimoji="0" lang="en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Yu Gothic UI" panose="020B0500000000000000" pitchFamily="34" charset="-128"/>
                <a:cs typeface="Times New Roman" panose="02020603050405020304" pitchFamily="18" charset="0"/>
              </a:rPr>
              <a:t> University, Beijing 100191, China.</a:t>
            </a:r>
          </a:p>
          <a:p>
            <a:r>
              <a:rPr kumimoji="1"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Luxuan</a:t>
            </a:r>
            <a: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</a:t>
            </a:r>
          </a:p>
          <a:p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Dec,</a:t>
            </a:r>
            <a: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5137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C4D890A-3894-E3F4-AF7E-329B9A8CB82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278416" y="5554332"/>
            <a:ext cx="1087393" cy="261610"/>
          </a:xfrm>
        </p:spPr>
        <p:txBody>
          <a:bodyPr/>
          <a:lstStyle/>
          <a:p>
            <a:pPr algn="ctr"/>
            <a:fld id="{DF45F8CD-A4FA-4EA3-B53F-4C1A83FF92F6}" type="slidenum">
              <a:rPr lang="en-US" altLang="zh-CN" smtClean="0"/>
              <a:pPr algn="ctr"/>
              <a:t>2</a:t>
            </a:fld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33F7724-D5D2-66BB-7F1B-D5FB5205E63B}"/>
              </a:ext>
            </a:extLst>
          </p:cNvPr>
          <p:cNvSpPr/>
          <p:nvPr/>
        </p:nvSpPr>
        <p:spPr>
          <a:xfrm>
            <a:off x="-15114" y="-25093"/>
            <a:ext cx="12207114" cy="884172"/>
          </a:xfrm>
          <a:prstGeom prst="rect">
            <a:avLst/>
          </a:prstGeom>
          <a:solidFill>
            <a:srgbClr val="233E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C998B36-D504-ABEB-786D-75E9B53A0CCF}"/>
              </a:ext>
            </a:extLst>
          </p:cNvPr>
          <p:cNvSpPr/>
          <p:nvPr/>
        </p:nvSpPr>
        <p:spPr>
          <a:xfrm>
            <a:off x="-15114" y="6627426"/>
            <a:ext cx="12207112" cy="242633"/>
          </a:xfrm>
          <a:prstGeom prst="rect">
            <a:avLst/>
          </a:prstGeom>
          <a:solidFill>
            <a:srgbClr val="233E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AA8B8F0-D82F-5F65-93D9-7CAC8F236615}"/>
              </a:ext>
            </a:extLst>
          </p:cNvPr>
          <p:cNvSpPr/>
          <p:nvPr/>
        </p:nvSpPr>
        <p:spPr>
          <a:xfrm>
            <a:off x="336213" y="838902"/>
            <a:ext cx="272054" cy="578852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3D51977-B3B5-93FA-5E31-DE174C22BD67}"/>
              </a:ext>
            </a:extLst>
          </p:cNvPr>
          <p:cNvSpPr txBox="1"/>
          <p:nvPr/>
        </p:nvSpPr>
        <p:spPr>
          <a:xfrm>
            <a:off x="336213" y="55332"/>
            <a:ext cx="5894368" cy="75565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14000"/>
              </a:lnSpc>
            </a:pPr>
            <a:r>
              <a:rPr lang="en-US" altLang="zh-CN" sz="4000" b="1" dirty="0">
                <a:solidFill>
                  <a:schemeClr val="accent5">
                    <a:lumMod val="20000"/>
                    <a:lumOff val="80000"/>
                  </a:schemeClr>
                </a:solidFill>
                <a:ea typeface="+mj-ea"/>
              </a:rPr>
              <a:t>CONTENT</a:t>
            </a:r>
          </a:p>
        </p:txBody>
      </p:sp>
      <p:sp>
        <p:nvSpPr>
          <p:cNvPr id="8" name="灯片编号占位符 1">
            <a:extLst>
              <a:ext uri="{FF2B5EF4-FFF2-40B4-BE49-F238E27FC236}">
                <a16:creationId xmlns:a16="http://schemas.microsoft.com/office/drawing/2014/main" id="{C5C375C4-5904-19CB-B008-93A8DF0E5487}"/>
              </a:ext>
            </a:extLst>
          </p:cNvPr>
          <p:cNvSpPr txBox="1">
            <a:spLocks/>
          </p:cNvSpPr>
          <p:nvPr/>
        </p:nvSpPr>
        <p:spPr>
          <a:xfrm>
            <a:off x="10968579" y="7573446"/>
            <a:ext cx="1087393" cy="26161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lang="en-US" altLang="zh-CN" sz="1100" kern="1200" baseline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F45F8CD-A4FA-4EA3-B53F-4C1A83FF92F6}" type="slidenum">
              <a:rPr lang="en-US" altLang="zh-CN" smtClean="0"/>
              <a:pPr algn="ctr"/>
              <a:t>2</a:t>
            </a:fld>
            <a:endParaRPr lang="zh-CN" altLang="en-US" dirty="0"/>
          </a:p>
        </p:txBody>
      </p:sp>
      <p:grpSp>
        <p:nvGrpSpPr>
          <p:cNvPr id="9" name="组 16">
            <a:extLst>
              <a:ext uri="{FF2B5EF4-FFF2-40B4-BE49-F238E27FC236}">
                <a16:creationId xmlns:a16="http://schemas.microsoft.com/office/drawing/2014/main" id="{F4E59ED7-5774-AE09-C8E2-4AC11EDE293E}"/>
              </a:ext>
            </a:extLst>
          </p:cNvPr>
          <p:cNvGrpSpPr/>
          <p:nvPr/>
        </p:nvGrpSpPr>
        <p:grpSpPr>
          <a:xfrm>
            <a:off x="905564" y="2347292"/>
            <a:ext cx="11039411" cy="646331"/>
            <a:chOff x="3434577" y="2073006"/>
            <a:chExt cx="9097201" cy="646331"/>
          </a:xfrm>
        </p:grpSpPr>
        <p:sp>
          <p:nvSpPr>
            <p:cNvPr id="10" name="五边形 9">
              <a:extLst>
                <a:ext uri="{FF2B5EF4-FFF2-40B4-BE49-F238E27FC236}">
                  <a16:creationId xmlns:a16="http://schemas.microsoft.com/office/drawing/2014/main" id="{0406ED10-002F-C3D1-D27D-564F7E7150EA}"/>
                </a:ext>
              </a:extLst>
            </p:cNvPr>
            <p:cNvSpPr/>
            <p:nvPr/>
          </p:nvSpPr>
          <p:spPr>
            <a:xfrm>
              <a:off x="3434577" y="2152628"/>
              <a:ext cx="1091959" cy="546410"/>
            </a:xfrm>
            <a:prstGeom prst="homePlate">
              <a:avLst/>
            </a:prstGeom>
            <a:solidFill>
              <a:srgbClr val="243D6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400" b="1" dirty="0">
                  <a:latin typeface="Times New Roman" panose="02020503050405090304" pitchFamily="18" charset="0"/>
                  <a:ea typeface="宋体-简" panose="02010800040101010101" pitchFamily="2" charset="-122"/>
                  <a:cs typeface="Times New Roman" panose="02020503050405090304" pitchFamily="18" charset="0"/>
                </a:rPr>
                <a:t>2</a:t>
              </a:r>
              <a:endParaRPr kumimoji="1" lang="zh-CN" altLang="en-US" sz="2400" b="1" dirty="0">
                <a:latin typeface="Times New Roman" panose="02020503050405090304" pitchFamily="18" charset="0"/>
                <a:ea typeface="宋体-简" panose="02010800040101010101" pitchFamily="2" charset="-122"/>
                <a:cs typeface="Times New Roman" panose="02020503050405090304" pitchFamily="18" charset="0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E2B0537-C228-865B-4214-C85920908A7B}"/>
                </a:ext>
              </a:extLst>
            </p:cNvPr>
            <p:cNvSpPr txBox="1"/>
            <p:nvPr/>
          </p:nvSpPr>
          <p:spPr>
            <a:xfrm>
              <a:off x="5052681" y="2073006"/>
              <a:ext cx="747909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3600" b="1" dirty="0">
                  <a:solidFill>
                    <a:srgbClr val="233E6F"/>
                  </a:solidFill>
                  <a:latin typeface="Times New Roman" panose="02020503050405090304" pitchFamily="18" charset="0"/>
                  <a:ea typeface="宋体-简" panose="02010800040101010101" pitchFamily="2" charset="-122"/>
                  <a:cs typeface="Times New Roman" panose="02020503050405090304" pitchFamily="18" charset="0"/>
                </a:rPr>
                <a:t>Method</a:t>
              </a:r>
              <a:endParaRPr kumimoji="1" lang="zh-CN" altLang="en-US" sz="3600" b="1" dirty="0">
                <a:solidFill>
                  <a:srgbClr val="233E6F"/>
                </a:solidFill>
                <a:latin typeface="Times New Roman" panose="02020503050405090304" pitchFamily="18" charset="0"/>
                <a:ea typeface="宋体-简" panose="02010800040101010101" pitchFamily="2" charset="-122"/>
                <a:cs typeface="Times New Roman" panose="02020503050405090304" pitchFamily="18" charset="0"/>
              </a:endParaRPr>
            </a:p>
          </p:txBody>
        </p:sp>
      </p:grpSp>
      <p:grpSp>
        <p:nvGrpSpPr>
          <p:cNvPr id="12" name="组 16">
            <a:extLst>
              <a:ext uri="{FF2B5EF4-FFF2-40B4-BE49-F238E27FC236}">
                <a16:creationId xmlns:a16="http://schemas.microsoft.com/office/drawing/2014/main" id="{B7DE89FA-6D54-54F2-A6F7-5836102F4C46}"/>
              </a:ext>
            </a:extLst>
          </p:cNvPr>
          <p:cNvGrpSpPr/>
          <p:nvPr/>
        </p:nvGrpSpPr>
        <p:grpSpPr>
          <a:xfrm>
            <a:off x="905564" y="1489653"/>
            <a:ext cx="11039411" cy="645160"/>
            <a:chOff x="3434577" y="2073006"/>
            <a:chExt cx="9097201" cy="645160"/>
          </a:xfrm>
        </p:grpSpPr>
        <p:sp>
          <p:nvSpPr>
            <p:cNvPr id="13" name="五边形 12">
              <a:extLst>
                <a:ext uri="{FF2B5EF4-FFF2-40B4-BE49-F238E27FC236}">
                  <a16:creationId xmlns:a16="http://schemas.microsoft.com/office/drawing/2014/main" id="{F14F0230-EADA-F1D3-9B31-0214F330BD5A}"/>
                </a:ext>
              </a:extLst>
            </p:cNvPr>
            <p:cNvSpPr/>
            <p:nvPr/>
          </p:nvSpPr>
          <p:spPr>
            <a:xfrm>
              <a:off x="3434577" y="2152628"/>
              <a:ext cx="1091959" cy="546410"/>
            </a:xfrm>
            <a:prstGeom prst="homePlate">
              <a:avLst/>
            </a:prstGeom>
            <a:solidFill>
              <a:srgbClr val="243D6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400" b="1" dirty="0">
                  <a:latin typeface="Times New Roman" panose="02020503050405090304" pitchFamily="18" charset="0"/>
                  <a:ea typeface="宋体-简" panose="02010800040101010101" pitchFamily="2" charset="-122"/>
                  <a:cs typeface="Times New Roman" panose="02020503050405090304" pitchFamily="18" charset="0"/>
                </a:rPr>
                <a:t>1</a:t>
              </a:r>
              <a:endParaRPr kumimoji="1" lang="zh-CN" altLang="en-US" sz="2400" b="1" dirty="0">
                <a:latin typeface="Times New Roman" panose="02020503050405090304" pitchFamily="18" charset="0"/>
                <a:ea typeface="宋体-简" panose="02010800040101010101" pitchFamily="2" charset="-122"/>
                <a:cs typeface="Times New Roman" panose="02020503050405090304" pitchFamily="18" charset="0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31A092CC-4E57-F1A9-B5C1-AEC5ADD38272}"/>
                </a:ext>
              </a:extLst>
            </p:cNvPr>
            <p:cNvSpPr txBox="1"/>
            <p:nvPr/>
          </p:nvSpPr>
          <p:spPr>
            <a:xfrm>
              <a:off x="5052681" y="2073006"/>
              <a:ext cx="7479097" cy="64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3600" b="1" dirty="0">
                  <a:solidFill>
                    <a:srgbClr val="233E6F"/>
                  </a:solidFill>
                  <a:latin typeface="Times New Roman" panose="02020503050405090304" pitchFamily="18" charset="0"/>
                  <a:ea typeface="宋体-简" panose="02010800040101010101" pitchFamily="2" charset="-122"/>
                  <a:cs typeface="Times New Roman" panose="02020503050405090304" pitchFamily="18" charset="0"/>
                </a:rPr>
                <a:t>Introduction</a:t>
              </a:r>
              <a:endParaRPr kumimoji="1" lang="zh-CN" altLang="en-US" sz="3600" b="1" dirty="0">
                <a:solidFill>
                  <a:srgbClr val="233E6F"/>
                </a:solidFill>
                <a:latin typeface="Times New Roman" panose="02020503050405090304" pitchFamily="18" charset="0"/>
                <a:ea typeface="宋体-简" panose="02010800040101010101" pitchFamily="2" charset="-122"/>
                <a:cs typeface="Times New Roman" panose="02020503050405090304" pitchFamily="18" charset="0"/>
              </a:endParaRPr>
            </a:p>
          </p:txBody>
        </p:sp>
      </p:grpSp>
      <p:grpSp>
        <p:nvGrpSpPr>
          <p:cNvPr id="18" name="组 16">
            <a:extLst>
              <a:ext uri="{FF2B5EF4-FFF2-40B4-BE49-F238E27FC236}">
                <a16:creationId xmlns:a16="http://schemas.microsoft.com/office/drawing/2014/main" id="{FEE15105-9776-1C0A-152E-105D018BE7AB}"/>
              </a:ext>
            </a:extLst>
          </p:cNvPr>
          <p:cNvGrpSpPr/>
          <p:nvPr/>
        </p:nvGrpSpPr>
        <p:grpSpPr>
          <a:xfrm>
            <a:off x="959594" y="4304957"/>
            <a:ext cx="11039411" cy="646331"/>
            <a:chOff x="3434577" y="2073006"/>
            <a:chExt cx="9097201" cy="646331"/>
          </a:xfrm>
        </p:grpSpPr>
        <p:sp>
          <p:nvSpPr>
            <p:cNvPr id="19" name="五边形 18">
              <a:extLst>
                <a:ext uri="{FF2B5EF4-FFF2-40B4-BE49-F238E27FC236}">
                  <a16:creationId xmlns:a16="http://schemas.microsoft.com/office/drawing/2014/main" id="{DD41903B-8BDD-5846-DBE9-A8909536675F}"/>
                </a:ext>
              </a:extLst>
            </p:cNvPr>
            <p:cNvSpPr/>
            <p:nvPr/>
          </p:nvSpPr>
          <p:spPr>
            <a:xfrm>
              <a:off x="3434577" y="2152628"/>
              <a:ext cx="1091959" cy="546410"/>
            </a:xfrm>
            <a:prstGeom prst="homePlate">
              <a:avLst/>
            </a:prstGeom>
            <a:solidFill>
              <a:srgbClr val="243D6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400" b="1" dirty="0">
                  <a:latin typeface="Times New Roman" panose="02020503050405090304" pitchFamily="18" charset="0"/>
                  <a:ea typeface="宋体-简" panose="02010800040101010101" pitchFamily="2" charset="-122"/>
                  <a:cs typeface="Times New Roman" panose="02020503050405090304" pitchFamily="18" charset="0"/>
                </a:rPr>
                <a:t>4</a:t>
              </a:r>
              <a:endParaRPr kumimoji="1" lang="zh-CN" altLang="en-US" sz="2400" b="1" dirty="0">
                <a:latin typeface="Times New Roman" panose="02020503050405090304" pitchFamily="18" charset="0"/>
                <a:ea typeface="宋体-简" panose="02010800040101010101" pitchFamily="2" charset="-122"/>
                <a:cs typeface="Times New Roman" panose="02020503050405090304" pitchFamily="18" charset="0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BEF5676B-536A-8AD4-3F3A-1BF57B11F153}"/>
                </a:ext>
              </a:extLst>
            </p:cNvPr>
            <p:cNvSpPr txBox="1"/>
            <p:nvPr/>
          </p:nvSpPr>
          <p:spPr>
            <a:xfrm>
              <a:off x="5052681" y="2073006"/>
              <a:ext cx="747909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3600" b="1" dirty="0">
                  <a:solidFill>
                    <a:srgbClr val="233E6F"/>
                  </a:solidFill>
                  <a:latin typeface="Times New Roman" panose="02020503050405090304" pitchFamily="18" charset="0"/>
                  <a:ea typeface="宋体-简" panose="02010800040101010101" pitchFamily="2" charset="-122"/>
                  <a:cs typeface="Times New Roman" panose="02020503050405090304" pitchFamily="18" charset="0"/>
                </a:rPr>
                <a:t>Discussion</a:t>
              </a:r>
            </a:p>
          </p:txBody>
        </p:sp>
      </p:grpSp>
      <p:grpSp>
        <p:nvGrpSpPr>
          <p:cNvPr id="21" name="组 16">
            <a:extLst>
              <a:ext uri="{FF2B5EF4-FFF2-40B4-BE49-F238E27FC236}">
                <a16:creationId xmlns:a16="http://schemas.microsoft.com/office/drawing/2014/main" id="{6D073649-A28B-D0FC-C858-E29D8E6C3C90}"/>
              </a:ext>
            </a:extLst>
          </p:cNvPr>
          <p:cNvGrpSpPr/>
          <p:nvPr/>
        </p:nvGrpSpPr>
        <p:grpSpPr>
          <a:xfrm>
            <a:off x="905564" y="3237752"/>
            <a:ext cx="11039411" cy="674224"/>
            <a:chOff x="3434577" y="2081072"/>
            <a:chExt cx="9097201" cy="674224"/>
          </a:xfrm>
        </p:grpSpPr>
        <p:sp>
          <p:nvSpPr>
            <p:cNvPr id="22" name="五边形 21">
              <a:extLst>
                <a:ext uri="{FF2B5EF4-FFF2-40B4-BE49-F238E27FC236}">
                  <a16:creationId xmlns:a16="http://schemas.microsoft.com/office/drawing/2014/main" id="{63C79363-D2B0-5329-87BD-8C056F195E2A}"/>
                </a:ext>
              </a:extLst>
            </p:cNvPr>
            <p:cNvSpPr/>
            <p:nvPr/>
          </p:nvSpPr>
          <p:spPr>
            <a:xfrm>
              <a:off x="3434577" y="2152628"/>
              <a:ext cx="1091959" cy="546410"/>
            </a:xfrm>
            <a:prstGeom prst="homePlate">
              <a:avLst/>
            </a:prstGeom>
            <a:solidFill>
              <a:srgbClr val="243D6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400" b="1" dirty="0">
                  <a:latin typeface="Times New Roman" panose="02020503050405090304" pitchFamily="18" charset="0"/>
                  <a:ea typeface="宋体-简" panose="02010800040101010101" pitchFamily="2" charset="-122"/>
                  <a:cs typeface="Times New Roman" panose="02020503050405090304" pitchFamily="18" charset="0"/>
                </a:rPr>
                <a:t>3</a:t>
              </a:r>
              <a:endParaRPr kumimoji="1" lang="zh-CN" altLang="en-US" sz="2400" b="1" dirty="0">
                <a:latin typeface="Times New Roman" panose="02020503050405090304" pitchFamily="18" charset="0"/>
                <a:ea typeface="宋体-简" panose="02010800040101010101" pitchFamily="2" charset="-122"/>
                <a:cs typeface="Times New Roman" panose="02020503050405090304" pitchFamily="18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0121DFE8-B65E-AB02-E7B1-B7C7D52E0478}"/>
                </a:ext>
              </a:extLst>
            </p:cNvPr>
            <p:cNvSpPr txBox="1"/>
            <p:nvPr/>
          </p:nvSpPr>
          <p:spPr>
            <a:xfrm>
              <a:off x="5052681" y="2081072"/>
              <a:ext cx="7479097" cy="6742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233E6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Main</a:t>
              </a: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233E6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en-US" altLang="zh-CN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233E6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Results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68034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AE6F6-47D2-8D8B-3CE1-35D158C07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A3AD3A8-7BBF-D1FC-FC0D-7BF7806AE5C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278416" y="5554332"/>
            <a:ext cx="1087393" cy="261610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45F8CD-A4FA-4EA3-B53F-4C1A83FF92F6}" type="slidenum"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498EAA1-01A1-E56B-9F26-890CA3F87A91}"/>
              </a:ext>
            </a:extLst>
          </p:cNvPr>
          <p:cNvSpPr/>
          <p:nvPr/>
        </p:nvSpPr>
        <p:spPr>
          <a:xfrm>
            <a:off x="-15114" y="-25093"/>
            <a:ext cx="12207114" cy="884172"/>
          </a:xfrm>
          <a:prstGeom prst="rect">
            <a:avLst/>
          </a:prstGeom>
          <a:solidFill>
            <a:srgbClr val="233E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3DBEB14-093B-9E35-DE1F-778D1CBD7C90}"/>
              </a:ext>
            </a:extLst>
          </p:cNvPr>
          <p:cNvSpPr/>
          <p:nvPr/>
        </p:nvSpPr>
        <p:spPr>
          <a:xfrm>
            <a:off x="-15114" y="6627426"/>
            <a:ext cx="12207112" cy="242633"/>
          </a:xfrm>
          <a:prstGeom prst="rect">
            <a:avLst/>
          </a:prstGeom>
          <a:solidFill>
            <a:srgbClr val="233E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889A1A3-521D-0605-D353-770C79971892}"/>
              </a:ext>
            </a:extLst>
          </p:cNvPr>
          <p:cNvSpPr txBox="1"/>
          <p:nvPr/>
        </p:nvSpPr>
        <p:spPr>
          <a:xfrm>
            <a:off x="336213" y="55332"/>
            <a:ext cx="5894368" cy="75565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77A2BB">
                    <a:lumMod val="20000"/>
                    <a:lumOff val="80000"/>
                  </a:srgbClr>
                </a:solidFill>
                <a:effectLst/>
                <a:uLnTx/>
                <a:uFillTx/>
                <a:latin typeface="Franklin Gothic Book" panose="020B0503020102020204"/>
                <a:ea typeface="华文楷体" panose="02010600040101010101" pitchFamily="2" charset="-122"/>
                <a:cs typeface="+mn-cs"/>
              </a:rPr>
              <a:t>Introduction</a:t>
            </a:r>
          </a:p>
        </p:txBody>
      </p:sp>
      <p:sp>
        <p:nvSpPr>
          <p:cNvPr id="8" name="灯片编号占位符 1">
            <a:extLst>
              <a:ext uri="{FF2B5EF4-FFF2-40B4-BE49-F238E27FC236}">
                <a16:creationId xmlns:a16="http://schemas.microsoft.com/office/drawing/2014/main" id="{60CEA87D-10F6-FBF5-2D89-062E473BD64D}"/>
              </a:ext>
            </a:extLst>
          </p:cNvPr>
          <p:cNvSpPr txBox="1">
            <a:spLocks/>
          </p:cNvSpPr>
          <p:nvPr/>
        </p:nvSpPr>
        <p:spPr>
          <a:xfrm>
            <a:off x="10968579" y="7573446"/>
            <a:ext cx="1087393" cy="26161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lang="en-US" altLang="zh-CN" sz="1100" kern="1200" baseline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45F8CD-A4FA-4EA3-B53F-4C1A83FF92F6}" type="slidenum"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E07E205-E532-4D79-7E1D-A86335363A42}"/>
              </a:ext>
            </a:extLst>
          </p:cNvPr>
          <p:cNvSpPr txBox="1"/>
          <p:nvPr/>
        </p:nvSpPr>
        <p:spPr>
          <a:xfrm>
            <a:off x="112542" y="4547595"/>
            <a:ext cx="86026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l"/>
            </a:pP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9C63374-8EAF-8E8F-5381-E720E7D54BD5}"/>
              </a:ext>
            </a:extLst>
          </p:cNvPr>
          <p:cNvSpPr txBox="1"/>
          <p:nvPr/>
        </p:nvSpPr>
        <p:spPr>
          <a:xfrm>
            <a:off x="112542" y="892972"/>
            <a:ext cx="77317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itchFamily="2" charset="2"/>
              <a:buChar char="l"/>
            </a:pP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C</a:t>
            </a:r>
            <a:r>
              <a:rPr lang="en" altLang="zh-CN" sz="2000" b="1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omposite</a:t>
            </a:r>
            <a:r>
              <a:rPr lang="en" altLang="zh-CN" sz="2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 nonconvex </a:t>
            </a:r>
            <a:r>
              <a:rPr lang="en-US" altLang="zh-CN" sz="2000" b="1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nonsmooth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 </a:t>
            </a:r>
            <a:r>
              <a:rPr lang="en" altLang="zh-CN" sz="2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finite-sum optimization problem</a:t>
            </a:r>
            <a:endParaRPr lang="en" altLang="zh-CN" sz="1600" dirty="0">
              <a:solidFill>
                <a:srgbClr val="C00000"/>
              </a:solidFill>
              <a:effectLst/>
              <a:latin typeface="Helvetica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9EE610A-5645-936B-B7DF-C17C0188E766}"/>
                  </a:ext>
                </a:extLst>
              </p:cNvPr>
              <p:cNvSpPr txBox="1"/>
              <p:nvPr/>
            </p:nvSpPr>
            <p:spPr>
              <a:xfrm>
                <a:off x="551440" y="2002691"/>
                <a:ext cx="10167527" cy="22692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𝕏</m:t>
                    </m:r>
                  </m:oMath>
                </a14:m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kumimoji="1"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𝔹</m:t>
                    </m:r>
                    <m:r>
                      <a:rPr kumimoji="1" lang="zh-CN" alt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</a:t>
                </a:r>
                <a:r>
                  <a:rPr kumimoji="1"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𝕐</m:t>
                    </m:r>
                  </m:oMath>
                </a14:m>
                <a:r>
                  <a:rPr kumimoji="1"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are</a:t>
                </a:r>
                <a:r>
                  <a:rPr kumimoji="1"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finite-</a:t>
                </a:r>
                <a:r>
                  <a:rPr kumimoji="1" lang="en-US" altLang="zh-C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dimentional</a:t>
                </a:r>
                <a:r>
                  <a:rPr kumimoji="1"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vector</a:t>
                </a:r>
                <a:r>
                  <a:rPr kumimoji="1"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spaces.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1" lang="en-US" altLang="zh-CN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kumimoji="1" lang="en-US" altLang="zh-CN" b="0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𝕏</m:t>
                    </m:r>
                    <m:r>
                      <a:rPr lang="zh-CN" altLang="en-US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zh-CN" altLang="en-US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ℝ</m:t>
                    </m:r>
                  </m:oMath>
                </a14:m>
                <a:r>
                  <a:rPr lang="zh-CN" altLang="en-US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</a:t>
                </a: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" altLang="zh-CN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continuously differentiable 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possibly</a:t>
                </a: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nonconvex,</a:t>
                </a: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</a:t>
                </a: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may</a:t>
                </a: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have</a:t>
                </a: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finite-sum</a:t>
                </a: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structure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altLang="zh-CN" b="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b="0" i="1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b="0" i="1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b="0" i="1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b="0" i="1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zh-CN" b="0" i="1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1" lang="en-US" altLang="zh-CN" b="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kumimoji="1"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kumimoji="1"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dirty="0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kumimoji="1" lang="en-US" altLang="zh-CN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kumimoji="1"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kumimoji="1" lang="en-US" altLang="zh-CN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zh-CN" alt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kumimoji="1"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i="1" dirty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kumimoji="1"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kumimoji="1"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kumimoji="1" lang="en-US" altLang="zh-CN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zh-CN" alt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zh-CN" b="0" i="1" dirty="0" smtClean="0">
                            <a:latin typeface="Cambria Math" panose="02040503050406030204" pitchFamily="18" charset="0"/>
                          </a:rPr>
                          <m:t>⋯,</m:t>
                        </m:r>
                        <m:r>
                          <a:rPr kumimoji="1" lang="zh-CN" alt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kumimoji="1"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dirty="0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kumimoji="1" lang="en-US" altLang="zh-CN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d>
                          <m:dPr>
                            <m:ctrlPr>
                              <a:rPr kumimoji="1"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</a:t>
                </a:r>
                <a:r>
                  <a:rPr lang="zh-CN" altLang="en-US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zh-CN" altLang="en-US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nonlinear</a:t>
                </a:r>
                <a:r>
                  <a:rPr lang="zh-CN" altLang="en-US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operator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Each</a:t>
                </a: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kumimoji="1"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kumimoji="1"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kumimoji="1" lang="en-US" altLang="zh-CN" b="0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kumimoji="1" lang="zh-CN" altLang="en-US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𝔹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altLang="zh-CN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ℝ</m:t>
                    </m:r>
                  </m:oMath>
                </a14:m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</a:t>
                </a: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" altLang="zh-CN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continuously differentiable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1" lang="en-US" altLang="zh-CN" b="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kumimoji="1" lang="en-US" altLang="zh-CN" b="0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kumimoji="1" lang="zh-CN" alt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𝕐</m:t>
                    </m:r>
                    <m:r>
                      <a:rPr lang="zh-CN" altLang="en-US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(−</m:t>
                    </m:r>
                    <m:r>
                      <a:rPr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∞,</m:t>
                    </m:r>
                    <m:r>
                      <a:rPr lang="zh-CN" altLang="en-US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∞</m:t>
                    </m:r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  <a:r>
                  <a:rPr lang="zh-CN" altLang="en-US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" altLang="zh-CN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 simple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proper</a:t>
                </a: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</a:t>
                </a: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" altLang="zh-CN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nonsmooth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possibly</a:t>
                </a: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nonconvex.</a:t>
                </a: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𝑛</m:t>
                    </m:r>
                    <m:r>
                      <a:rPr lang="zh-CN" altLang="en-US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can</a:t>
                </a: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</a:t>
                </a: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large.</a:t>
                </a:r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9EE610A-5645-936B-B7DF-C17C0188E7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40" y="2002691"/>
                <a:ext cx="10167527" cy="2269211"/>
              </a:xfrm>
              <a:prstGeom prst="rect">
                <a:avLst/>
              </a:prstGeom>
              <a:blipFill>
                <a:blip r:embed="rId3"/>
                <a:stretch>
                  <a:fillRect l="-375" t="-13889" b="-19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56AF31C1-193F-CA28-0C06-F3BC760C8928}"/>
                  </a:ext>
                </a:extLst>
              </p:cNvPr>
              <p:cNvSpPr txBox="1"/>
              <p:nvPr/>
            </p:nvSpPr>
            <p:spPr>
              <a:xfrm>
                <a:off x="609072" y="5106306"/>
                <a:ext cx="10973855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marR="0" lvl="0" indent="-3429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itchFamily="2" charset="2"/>
                  <a:buChar char="Ø"/>
                  <a:tabLst/>
                  <a:defRPr/>
                </a:pPr>
                <a:r>
                  <a:rPr kumimoji="1" lang="en-US" altLang="zh-CN" sz="180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Nonconvexity</a:t>
                </a:r>
                <a:r>
                  <a:rPr kumimoji="1" lang="zh-CN" altLang="en-US" sz="180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sz="180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of</a:t>
                </a:r>
                <a:r>
                  <a:rPr kumimoji="1" lang="zh-CN" altLang="en-US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the</a:t>
                </a:r>
                <a:r>
                  <a:rPr kumimoji="1" lang="zh-CN" altLang="en-US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problem</a:t>
                </a:r>
                <a:endParaRPr kumimoji="1" lang="en-US" altLang="zh-CN" sz="180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342900" lvl="0" indent="-342900">
                  <a:buFont typeface="Wingdings" pitchFamily="2" charset="2"/>
                  <a:buChar char="Ø"/>
                  <a:defRPr/>
                </a:pPr>
                <a:r>
                  <a:rPr kumimoji="1"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coupling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between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nonlinear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operator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nonsmooth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function</a:t>
                </a:r>
              </a:p>
              <a:p>
                <a:pPr marL="342900" lvl="0" indent="-342900">
                  <a:buFont typeface="Wingdings" pitchFamily="2" charset="2"/>
                  <a:buChar char="Ø"/>
                  <a:defRPr/>
                </a:pPr>
                <a:r>
                  <a:rPr kumimoji="1"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inefficiency of computing the proximal operator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kumimoji="1" lang="en-US" altLang="zh-CN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m:rPr>
                        <m:sty m:val="p"/>
                      </m:rPr>
                      <a:rPr kumimoji="1" lang="en-US" altLang="zh-CN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g</m:t>
                    </m:r>
                  </m:oMath>
                </a14:m>
                <a:endParaRPr kumimoji="1"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56AF31C1-193F-CA28-0C06-F3BC760C89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072" y="5106306"/>
                <a:ext cx="10973855" cy="923330"/>
              </a:xfrm>
              <a:prstGeom prst="rect">
                <a:avLst/>
              </a:prstGeom>
              <a:blipFill>
                <a:blip r:embed="rId4"/>
                <a:stretch>
                  <a:fillRect l="-347" t="-4110" b="-95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>
            <a:extLst>
              <a:ext uri="{FF2B5EF4-FFF2-40B4-BE49-F238E27FC236}">
                <a16:creationId xmlns:a16="http://schemas.microsoft.com/office/drawing/2014/main" id="{5B30672A-16F1-8290-916E-7575EDD591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8266" y="1231025"/>
            <a:ext cx="2825069" cy="832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672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68E0C-7963-5539-DD75-B47383AF6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43602A7-323E-8421-B678-A5E3EA80F29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278416" y="5554332"/>
            <a:ext cx="1087393" cy="261610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45F8CD-A4FA-4EA3-B53F-4C1A83FF92F6}" type="slidenum"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81A7548-0804-AE51-ED9E-D22CE1A06DD0}"/>
              </a:ext>
            </a:extLst>
          </p:cNvPr>
          <p:cNvSpPr/>
          <p:nvPr/>
        </p:nvSpPr>
        <p:spPr>
          <a:xfrm>
            <a:off x="-15114" y="-25093"/>
            <a:ext cx="12207114" cy="884172"/>
          </a:xfrm>
          <a:prstGeom prst="rect">
            <a:avLst/>
          </a:prstGeom>
          <a:solidFill>
            <a:srgbClr val="233E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2F9E3E4-2D53-CCCF-5D14-94AB109623C4}"/>
              </a:ext>
            </a:extLst>
          </p:cNvPr>
          <p:cNvSpPr/>
          <p:nvPr/>
        </p:nvSpPr>
        <p:spPr>
          <a:xfrm>
            <a:off x="-15114" y="6627426"/>
            <a:ext cx="12207112" cy="242633"/>
          </a:xfrm>
          <a:prstGeom prst="rect">
            <a:avLst/>
          </a:prstGeom>
          <a:solidFill>
            <a:srgbClr val="233E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9014CF6-DD94-8B7E-9259-953A6C2E6218}"/>
              </a:ext>
            </a:extLst>
          </p:cNvPr>
          <p:cNvSpPr txBox="1"/>
          <p:nvPr/>
        </p:nvSpPr>
        <p:spPr>
          <a:xfrm>
            <a:off x="336213" y="55332"/>
            <a:ext cx="5894368" cy="75565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77A2BB">
                    <a:lumMod val="20000"/>
                    <a:lumOff val="80000"/>
                  </a:srgbClr>
                </a:solidFill>
                <a:effectLst/>
                <a:uLnTx/>
                <a:uFillTx/>
                <a:latin typeface="Franklin Gothic Book" panose="020B0503020102020204"/>
                <a:ea typeface="华文楷体" panose="02010600040101010101" pitchFamily="2" charset="-122"/>
                <a:cs typeface="+mn-cs"/>
              </a:rPr>
              <a:t>Introduction</a:t>
            </a:r>
          </a:p>
        </p:txBody>
      </p:sp>
      <p:sp>
        <p:nvSpPr>
          <p:cNvPr id="8" name="灯片编号占位符 1">
            <a:extLst>
              <a:ext uri="{FF2B5EF4-FFF2-40B4-BE49-F238E27FC236}">
                <a16:creationId xmlns:a16="http://schemas.microsoft.com/office/drawing/2014/main" id="{6927079A-34E7-F6D8-FEE7-4FCF35103C51}"/>
              </a:ext>
            </a:extLst>
          </p:cNvPr>
          <p:cNvSpPr txBox="1">
            <a:spLocks/>
          </p:cNvSpPr>
          <p:nvPr/>
        </p:nvSpPr>
        <p:spPr>
          <a:xfrm>
            <a:off x="10968579" y="7573446"/>
            <a:ext cx="1087393" cy="26161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lang="en-US" altLang="zh-CN" sz="1100" kern="1200" baseline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45F8CD-A4FA-4EA3-B53F-4C1A83FF92F6}" type="slidenum"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BC1A4B3-7867-7C40-04C1-3486D9BF9174}"/>
              </a:ext>
            </a:extLst>
          </p:cNvPr>
          <p:cNvSpPr txBox="1"/>
          <p:nvPr/>
        </p:nvSpPr>
        <p:spPr>
          <a:xfrm>
            <a:off x="112542" y="892972"/>
            <a:ext cx="4044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itchFamily="2" charset="2"/>
              <a:buChar char="l"/>
            </a:pPr>
            <a:r>
              <a:rPr lang="en-US" altLang="zh-CN" dirty="0">
                <a:solidFill>
                  <a:srgbClr val="C00000"/>
                </a:solidFill>
                <a:effectLst/>
                <a:latin typeface="Helvetica" pitchFamily="2" charset="0"/>
              </a:rPr>
              <a:t>Deep</a:t>
            </a:r>
            <a:r>
              <a:rPr lang="zh-CN" altLang="en-US" dirty="0">
                <a:solidFill>
                  <a:srgbClr val="C00000"/>
                </a:solidFill>
                <a:effectLst/>
                <a:latin typeface="Helvetica" pitchFamily="2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effectLst/>
                <a:latin typeface="Helvetica" pitchFamily="2" charset="0"/>
              </a:rPr>
              <a:t>pair</a:t>
            </a:r>
            <a:r>
              <a:rPr lang="en-US" altLang="zh-CN" dirty="0">
                <a:solidFill>
                  <a:srgbClr val="C00000"/>
                </a:solidFill>
                <a:latin typeface="Helvetica" pitchFamily="2" charset="0"/>
              </a:rPr>
              <a:t>wise</a:t>
            </a:r>
            <a:r>
              <a:rPr lang="zh-CN" altLang="en-US" dirty="0">
                <a:solidFill>
                  <a:srgbClr val="C00000"/>
                </a:solidFill>
                <a:latin typeface="Helvetica" pitchFamily="2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Helvetica" pitchFamily="2" charset="0"/>
              </a:rPr>
              <a:t>supervised</a:t>
            </a:r>
            <a:r>
              <a:rPr lang="zh-CN" altLang="en-US" dirty="0">
                <a:solidFill>
                  <a:srgbClr val="C00000"/>
                </a:solidFill>
                <a:latin typeface="Helvetica" pitchFamily="2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Helvetica" pitchFamily="2" charset="0"/>
              </a:rPr>
              <a:t>hashing</a:t>
            </a:r>
            <a:endParaRPr lang="en" altLang="zh-CN" dirty="0">
              <a:solidFill>
                <a:srgbClr val="C00000"/>
              </a:solidFill>
              <a:effectLst/>
              <a:latin typeface="Helvetica" pitchFamily="2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C851E0D-A05F-7583-8044-8210F55657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4050" y="1303241"/>
            <a:ext cx="4889500" cy="12065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B142137D-A9CD-A9BA-D46A-54927C5139F2}"/>
                  </a:ext>
                </a:extLst>
              </p:cNvPr>
              <p:cNvSpPr txBox="1"/>
              <p:nvPr/>
            </p:nvSpPr>
            <p:spPr>
              <a:xfrm>
                <a:off x="336213" y="2605108"/>
                <a:ext cx="11890563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kumimoji="1"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</a:t>
                </a: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loss</a:t>
                </a: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function,</a:t>
                </a: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preserving</a:t>
                </a: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similarity</a:t>
                </a: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between</a:t>
                </a: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hamming</a:t>
                </a: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space</a:t>
                </a: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</a:t>
                </a: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</a:t>
                </a: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space.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1" lang="en-US" altLang="zh-CN" b="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kumimoji="1" lang="en-US" altLang="zh-CN" b="0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kumimoji="1" lang="zh-CN" alt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𝕐</m:t>
                    </m:r>
                    <m:r>
                      <a:rPr lang="zh-CN" altLang="en-US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(−</m:t>
                    </m:r>
                    <m:r>
                      <a:rPr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∞,</m:t>
                    </m:r>
                    <m:r>
                      <a:rPr lang="zh-CN" altLang="en-US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∞</m:t>
                    </m:r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  <a:r>
                  <a:rPr lang="zh-CN" altLang="en-US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" altLang="zh-CN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</a:t>
                </a:r>
                <a:r>
                  <a:rPr lang="zh-CN" altLang="en-US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lang="zh-CN" altLang="en-US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binary</a:t>
                </a:r>
                <a:r>
                  <a:rPr lang="zh-CN" altLang="en-US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hash</a:t>
                </a:r>
                <a:r>
                  <a:rPr lang="zh-CN" altLang="en-US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regularization,</a:t>
                </a: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which</a:t>
                </a: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usually</a:t>
                </a: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has</a:t>
                </a: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binarization approximation properties</a:t>
                </a:r>
                <a:r>
                  <a:rPr kumimoji="1"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</a:t>
                </a:r>
                <a:r>
                  <a:rPr kumimoji="1"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-1</a:t>
                </a:r>
                <a:r>
                  <a:rPr kumimoji="1"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</a:t>
                </a:r>
                <a:r>
                  <a:rPr kumimoji="1"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</a:t>
                </a:r>
                <a:endPara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𝑛</m:t>
                    </m:r>
                    <m:r>
                      <a:rPr lang="zh-CN" altLang="en-US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can</a:t>
                </a: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</a:t>
                </a: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large.</a:t>
                </a:r>
              </a:p>
            </p:txBody>
          </p:sp>
        </mc:Choice>
        <mc:Fallback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B142137D-A9CD-A9BA-D46A-54927C5139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213" y="2605108"/>
                <a:ext cx="11890563" cy="923330"/>
              </a:xfrm>
              <a:prstGeom prst="rect">
                <a:avLst/>
              </a:prstGeom>
              <a:blipFill>
                <a:blip r:embed="rId4"/>
                <a:stretch>
                  <a:fillRect l="-320" t="-1351" b="-108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图片 15">
            <a:extLst>
              <a:ext uri="{FF2B5EF4-FFF2-40B4-BE49-F238E27FC236}">
                <a16:creationId xmlns:a16="http://schemas.microsoft.com/office/drawing/2014/main" id="{D957CFB0-C744-0C2C-28F6-190CD442BA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4886" y="2362475"/>
            <a:ext cx="8416918" cy="4731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263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51452-E7A1-BA48-5323-23C4813AE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2F43A0B-F327-F980-E102-DE2043DCB6A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278416" y="5554332"/>
            <a:ext cx="1087393" cy="261610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45F8CD-A4FA-4EA3-B53F-4C1A83FF92F6}" type="slidenum"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4079FBA-9B1B-2AFD-384E-A6569E961046}"/>
              </a:ext>
            </a:extLst>
          </p:cNvPr>
          <p:cNvSpPr/>
          <p:nvPr/>
        </p:nvSpPr>
        <p:spPr>
          <a:xfrm>
            <a:off x="-15114" y="-25093"/>
            <a:ext cx="12207114" cy="884172"/>
          </a:xfrm>
          <a:prstGeom prst="rect">
            <a:avLst/>
          </a:prstGeom>
          <a:solidFill>
            <a:srgbClr val="233E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3623F58-917F-FEA6-2A8B-B1CC09980D0A}"/>
              </a:ext>
            </a:extLst>
          </p:cNvPr>
          <p:cNvSpPr/>
          <p:nvPr/>
        </p:nvSpPr>
        <p:spPr>
          <a:xfrm>
            <a:off x="-15114" y="6627426"/>
            <a:ext cx="12207112" cy="242633"/>
          </a:xfrm>
          <a:prstGeom prst="rect">
            <a:avLst/>
          </a:prstGeom>
          <a:solidFill>
            <a:srgbClr val="233E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9D0CF44-3392-1E6D-0BD3-D5144B257BD2}"/>
              </a:ext>
            </a:extLst>
          </p:cNvPr>
          <p:cNvSpPr txBox="1"/>
          <p:nvPr/>
        </p:nvSpPr>
        <p:spPr>
          <a:xfrm>
            <a:off x="201632" y="39165"/>
            <a:ext cx="5894368" cy="75565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77A2BB">
                    <a:lumMod val="20000"/>
                    <a:lumOff val="80000"/>
                  </a:srgbClr>
                </a:solidFill>
                <a:effectLst/>
                <a:uLnTx/>
                <a:uFillTx/>
                <a:latin typeface="Franklin Gothic Book" panose="020B0503020102020204"/>
                <a:ea typeface="华文楷体" panose="02010600040101010101" pitchFamily="2" charset="-122"/>
                <a:cs typeface="+mn-cs"/>
              </a:rPr>
              <a:t>Method</a:t>
            </a:r>
          </a:p>
        </p:txBody>
      </p:sp>
      <p:sp>
        <p:nvSpPr>
          <p:cNvPr id="8" name="灯片编号占位符 1">
            <a:extLst>
              <a:ext uri="{FF2B5EF4-FFF2-40B4-BE49-F238E27FC236}">
                <a16:creationId xmlns:a16="http://schemas.microsoft.com/office/drawing/2014/main" id="{67CC9CF2-60B6-2AE2-EAA0-5A84BF5E585B}"/>
              </a:ext>
            </a:extLst>
          </p:cNvPr>
          <p:cNvSpPr txBox="1">
            <a:spLocks/>
          </p:cNvSpPr>
          <p:nvPr/>
        </p:nvSpPr>
        <p:spPr>
          <a:xfrm>
            <a:off x="10968579" y="7573446"/>
            <a:ext cx="1087393" cy="26161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lang="en-US" altLang="zh-CN" sz="1100" kern="1200" baseline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45F8CD-A4FA-4EA3-B53F-4C1A83FF92F6}" type="slidenum"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400FEA2-4035-B238-60DA-086171886B74}"/>
              </a:ext>
            </a:extLst>
          </p:cNvPr>
          <p:cNvSpPr txBox="1"/>
          <p:nvPr/>
        </p:nvSpPr>
        <p:spPr>
          <a:xfrm>
            <a:off x="254352" y="3927983"/>
            <a:ext cx="61950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l"/>
              <a:tabLst/>
              <a:defRPr/>
            </a:pP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Dual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problem:</a:t>
            </a:r>
            <a:endParaRPr kumimoji="0" lang="en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6C0E82F-AE01-BF8D-11FE-4D6FCC5C5835}"/>
              </a:ext>
            </a:extLst>
          </p:cNvPr>
          <p:cNvSpPr txBox="1"/>
          <p:nvPr/>
        </p:nvSpPr>
        <p:spPr>
          <a:xfrm>
            <a:off x="175330" y="1649168"/>
            <a:ext cx="61950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l"/>
              <a:tabLst/>
              <a:defRPr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Primal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problem:</a:t>
            </a:r>
            <a:endParaRPr kumimoji="0" lang="en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下箭头 12">
            <a:extLst>
              <a:ext uri="{FF2B5EF4-FFF2-40B4-BE49-F238E27FC236}">
                <a16:creationId xmlns:a16="http://schemas.microsoft.com/office/drawing/2014/main" id="{6EE2F57F-7C1E-08E4-4F9B-3083F7AA09AB}"/>
              </a:ext>
            </a:extLst>
          </p:cNvPr>
          <p:cNvSpPr/>
          <p:nvPr/>
        </p:nvSpPr>
        <p:spPr>
          <a:xfrm>
            <a:off x="5057422" y="3089674"/>
            <a:ext cx="349956" cy="768219"/>
          </a:xfrm>
          <a:prstGeom prst="downArrow">
            <a:avLst/>
          </a:prstGeom>
          <a:solidFill>
            <a:srgbClr val="233E6F"/>
          </a:solidFill>
          <a:ln>
            <a:solidFill>
              <a:srgbClr val="233E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0AB3F4F-13F2-C254-8118-A126ADEB7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7378" y="3084865"/>
            <a:ext cx="3725736" cy="58607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D06035E-CC11-2795-F2D9-C3B7C8A57C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9657" y="4373156"/>
            <a:ext cx="8220363" cy="90050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F834AC8E-87B5-21A4-4D6C-D5B875522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8208" y="2002533"/>
            <a:ext cx="7772400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875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5C7DB-71BB-723F-C514-F982C5661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E845CC5-AEFC-F96E-E80F-491254104A5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278416" y="5554332"/>
            <a:ext cx="1087393" cy="261610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45F8CD-A4FA-4EA3-B53F-4C1A83FF92F6}" type="slidenum"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43190C3-F52C-9B56-585F-D8F4248631E3}"/>
              </a:ext>
            </a:extLst>
          </p:cNvPr>
          <p:cNvSpPr/>
          <p:nvPr/>
        </p:nvSpPr>
        <p:spPr>
          <a:xfrm>
            <a:off x="-15114" y="-25093"/>
            <a:ext cx="12207114" cy="884172"/>
          </a:xfrm>
          <a:prstGeom prst="rect">
            <a:avLst/>
          </a:prstGeom>
          <a:solidFill>
            <a:srgbClr val="233E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29AFD5B-E4D7-2D3F-7DBC-147569AC6909}"/>
              </a:ext>
            </a:extLst>
          </p:cNvPr>
          <p:cNvSpPr/>
          <p:nvPr/>
        </p:nvSpPr>
        <p:spPr>
          <a:xfrm>
            <a:off x="-15114" y="6627426"/>
            <a:ext cx="12207112" cy="242633"/>
          </a:xfrm>
          <a:prstGeom prst="rect">
            <a:avLst/>
          </a:prstGeom>
          <a:solidFill>
            <a:srgbClr val="233E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E2CB72A-6370-E71C-8CB4-50087339CBFC}"/>
              </a:ext>
            </a:extLst>
          </p:cNvPr>
          <p:cNvSpPr txBox="1"/>
          <p:nvPr/>
        </p:nvSpPr>
        <p:spPr>
          <a:xfrm>
            <a:off x="336213" y="55332"/>
            <a:ext cx="5894368" cy="75565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77A2BB">
                    <a:lumMod val="20000"/>
                    <a:lumOff val="80000"/>
                  </a:srgbClr>
                </a:solidFill>
                <a:effectLst/>
                <a:uLnTx/>
                <a:uFillTx/>
                <a:latin typeface="Franklin Gothic Book" panose="020B0503020102020204"/>
                <a:ea typeface="华文楷体" panose="02010600040101010101" pitchFamily="2" charset="-122"/>
                <a:cs typeface="+mn-cs"/>
              </a:rPr>
              <a:t>Method</a:t>
            </a:r>
          </a:p>
        </p:txBody>
      </p:sp>
      <p:sp>
        <p:nvSpPr>
          <p:cNvPr id="8" name="灯片编号占位符 1">
            <a:extLst>
              <a:ext uri="{FF2B5EF4-FFF2-40B4-BE49-F238E27FC236}">
                <a16:creationId xmlns:a16="http://schemas.microsoft.com/office/drawing/2014/main" id="{0D5E2A23-008D-246D-F1D5-75AF173689EF}"/>
              </a:ext>
            </a:extLst>
          </p:cNvPr>
          <p:cNvSpPr txBox="1">
            <a:spLocks/>
          </p:cNvSpPr>
          <p:nvPr/>
        </p:nvSpPr>
        <p:spPr>
          <a:xfrm>
            <a:off x="10968579" y="7573446"/>
            <a:ext cx="1087393" cy="26161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lang="en-US" altLang="zh-CN" sz="1100" kern="1200" baseline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45F8CD-A4FA-4EA3-B53F-4C1A83FF92F6}" type="slidenum"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1560C82-E00A-6D71-D19B-60A585E085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290" r="4762"/>
          <a:stretch/>
        </p:blipFill>
        <p:spPr>
          <a:xfrm>
            <a:off x="551871" y="1988981"/>
            <a:ext cx="9693817" cy="369563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F8583BD-0E38-9BD6-75B5-17BCA1C50BCA}"/>
                  </a:ext>
                </a:extLst>
              </p:cNvPr>
              <p:cNvSpPr txBox="1"/>
              <p:nvPr/>
            </p:nvSpPr>
            <p:spPr>
              <a:xfrm>
                <a:off x="691982" y="1145687"/>
                <a:ext cx="9764211" cy="6562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en-US" altLang="zh-CN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</a:t>
                </a:r>
                <a:r>
                  <a:rPr kumimoji="1"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kumimoji="1"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update</a:t>
                </a:r>
                <a:r>
                  <a:rPr kumimoji="1"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</a:t>
                </a:r>
                <a:r>
                  <a:rPr kumimoji="1"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kumimoji="1"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kumimoji="1"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nonlinear</a:t>
                </a:r>
                <a:r>
                  <a:rPr kumimoji="1"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opeator</a:t>
                </a:r>
                <a:r>
                  <a:rPr kumimoji="1"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kumimoji="1"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</a:t>
                </a:r>
                <a:r>
                  <a:rPr kumimoji="1"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linearized</a:t>
                </a:r>
                <a:r>
                  <a:rPr kumimoji="1"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</a:t>
                </a:r>
                <a:r>
                  <a:rPr kumimoji="1"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kumimoji="1"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</a:t>
                </a:r>
                <a:r>
                  <a:rPr kumimoji="1"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>
                        <a:latin typeface="Cambria Math" panose="02040503050406030204" pitchFamily="18" charset="0"/>
                      </a:rPr>
                      <m:t>J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</a:t>
                </a:r>
                <a:r>
                  <a:rPr kumimoji="1"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kumimoji="1"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Jacobian</a:t>
                </a:r>
                <a:r>
                  <a:rPr kumimoji="1"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matrix</a:t>
                </a:r>
                <a:r>
                  <a:rPr kumimoji="1"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；</a:t>
                </a:r>
                <a:endParaRPr kumimoji="1"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en-US" altLang="zh-CN" b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</a:t>
                </a:r>
                <a:r>
                  <a:rPr kumimoji="1" lang="en-US" altLang="zh-CN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kumimoji="1"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kumimoji="1"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update</a:t>
                </a:r>
                <a:r>
                  <a:rPr kumimoji="1"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</a:t>
                </a:r>
                <a:r>
                  <a:rPr kumimoji="1"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kumimoji="1"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kumimoji="1"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kumimoji="1"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nonlinear</a:t>
                </a:r>
                <a:r>
                  <a:rPr kumimoji="1"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opeator</a:t>
                </a:r>
                <a:r>
                  <a:rPr kumimoji="1"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kumimoji="1"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</a:t>
                </a:r>
                <a:r>
                  <a:rPr kumimoji="1"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linearized</a:t>
                </a:r>
                <a:r>
                  <a:rPr kumimoji="1"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</a:t>
                </a:r>
                <a:r>
                  <a:rPr kumimoji="1"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F8583BD-0E38-9BD6-75B5-17BCA1C50B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982" y="1145687"/>
                <a:ext cx="9764211" cy="656205"/>
              </a:xfrm>
              <a:prstGeom prst="rect">
                <a:avLst/>
              </a:prstGeom>
              <a:blipFill>
                <a:blip r:embed="rId4"/>
                <a:stretch>
                  <a:fillRect l="-390" t="-5660" r="-130" b="-132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2099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E01E2-B261-08CE-C779-57E3A61E1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B0D0DF7-D458-4A3C-8F7E-4F1C5D4F690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278416" y="5554332"/>
            <a:ext cx="1087393" cy="261610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45F8CD-A4FA-4EA3-B53F-4C1A83FF92F6}" type="slidenum"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A28EC8B-27BC-C2B8-52E4-196A8C618E82}"/>
              </a:ext>
            </a:extLst>
          </p:cNvPr>
          <p:cNvSpPr/>
          <p:nvPr/>
        </p:nvSpPr>
        <p:spPr>
          <a:xfrm>
            <a:off x="-15114" y="-25093"/>
            <a:ext cx="12207114" cy="884172"/>
          </a:xfrm>
          <a:prstGeom prst="rect">
            <a:avLst/>
          </a:prstGeom>
          <a:solidFill>
            <a:srgbClr val="233E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8159448-4E68-579D-870C-AC5151E43FFB}"/>
              </a:ext>
            </a:extLst>
          </p:cNvPr>
          <p:cNvSpPr/>
          <p:nvPr/>
        </p:nvSpPr>
        <p:spPr>
          <a:xfrm>
            <a:off x="-15114" y="6627426"/>
            <a:ext cx="12207112" cy="242633"/>
          </a:xfrm>
          <a:prstGeom prst="rect">
            <a:avLst/>
          </a:prstGeom>
          <a:solidFill>
            <a:srgbClr val="233E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45D8FA5-AB9D-7A8B-7ADA-CF3F58F6197C}"/>
              </a:ext>
            </a:extLst>
          </p:cNvPr>
          <p:cNvSpPr txBox="1"/>
          <p:nvPr/>
        </p:nvSpPr>
        <p:spPr>
          <a:xfrm>
            <a:off x="336213" y="55332"/>
            <a:ext cx="5894368" cy="75565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77A2BB">
                    <a:lumMod val="20000"/>
                    <a:lumOff val="80000"/>
                  </a:srgbClr>
                </a:solidFill>
                <a:effectLst/>
                <a:uLnTx/>
                <a:uFillTx/>
                <a:latin typeface="Franklin Gothic Book" panose="020B0503020102020204"/>
                <a:ea typeface="华文楷体" panose="02010600040101010101" pitchFamily="2" charset="-122"/>
                <a:cs typeface="+mn-cs"/>
              </a:rPr>
              <a:t>Main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77A2BB">
                    <a:lumMod val="20000"/>
                    <a:lumOff val="80000"/>
                  </a:srgbClr>
                </a:solidFill>
                <a:effectLst/>
                <a:uLnTx/>
                <a:uFillTx/>
                <a:latin typeface="Franklin Gothic Book" panose="020B0503020102020204"/>
                <a:ea typeface="华文楷体" panose="02010600040101010101" pitchFamily="2" charset="-122"/>
                <a:cs typeface="+mn-cs"/>
              </a:rPr>
              <a:t> 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77A2BB">
                    <a:lumMod val="20000"/>
                    <a:lumOff val="80000"/>
                  </a:srgbClr>
                </a:solidFill>
                <a:effectLst/>
                <a:uLnTx/>
                <a:uFillTx/>
                <a:latin typeface="Franklin Gothic Book" panose="020B0503020102020204"/>
                <a:ea typeface="华文楷体" panose="02010600040101010101" pitchFamily="2" charset="-122"/>
                <a:cs typeface="+mn-cs"/>
              </a:rPr>
              <a:t>Results</a:t>
            </a:r>
          </a:p>
        </p:txBody>
      </p:sp>
      <p:sp>
        <p:nvSpPr>
          <p:cNvPr id="8" name="灯片编号占位符 1">
            <a:extLst>
              <a:ext uri="{FF2B5EF4-FFF2-40B4-BE49-F238E27FC236}">
                <a16:creationId xmlns:a16="http://schemas.microsoft.com/office/drawing/2014/main" id="{E9AAC378-E5BE-4A84-31BC-419B24D02C32}"/>
              </a:ext>
            </a:extLst>
          </p:cNvPr>
          <p:cNvSpPr txBox="1">
            <a:spLocks/>
          </p:cNvSpPr>
          <p:nvPr/>
        </p:nvSpPr>
        <p:spPr>
          <a:xfrm>
            <a:off x="10968579" y="7573446"/>
            <a:ext cx="1087393" cy="26161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lang="en-US" altLang="zh-CN" sz="1100" kern="1200" baseline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45F8CD-A4FA-4EA3-B53F-4C1A83FF92F6}" type="slidenum"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56CB617-8D24-98A5-75FF-E14CA1F0CB02}"/>
              </a:ext>
            </a:extLst>
          </p:cNvPr>
          <p:cNvSpPr txBox="1"/>
          <p:nvPr/>
        </p:nvSpPr>
        <p:spPr>
          <a:xfrm>
            <a:off x="560282" y="3356387"/>
            <a:ext cx="75801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Here,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we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obtain: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CA52E48-5046-0073-A49D-88BFF6A58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367" y="3751876"/>
            <a:ext cx="7772400" cy="2827459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8783E3F6-49C4-ECE9-C8F0-1AA7B6287BC1}"/>
              </a:ext>
            </a:extLst>
          </p:cNvPr>
          <p:cNvSpPr txBox="1"/>
          <p:nvPr/>
        </p:nvSpPr>
        <p:spPr>
          <a:xfrm>
            <a:off x="352463" y="1135250"/>
            <a:ext cx="75801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l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Main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Assumptions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7AC8390-D7EA-072C-37A9-120354C192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1762" y="1505832"/>
            <a:ext cx="8289507" cy="1837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050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065CB-30C7-7E46-94DA-12E963DB8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CB156DE-7DA5-A57D-25A6-7A0887C13BD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278416" y="5554332"/>
            <a:ext cx="1087393" cy="261610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45F8CD-A4FA-4EA3-B53F-4C1A83FF92F6}" type="slidenum"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F707EA4-1166-1A76-565C-571265964999}"/>
              </a:ext>
            </a:extLst>
          </p:cNvPr>
          <p:cNvSpPr/>
          <p:nvPr/>
        </p:nvSpPr>
        <p:spPr>
          <a:xfrm>
            <a:off x="-15114" y="-25093"/>
            <a:ext cx="12207114" cy="884172"/>
          </a:xfrm>
          <a:prstGeom prst="rect">
            <a:avLst/>
          </a:prstGeom>
          <a:solidFill>
            <a:srgbClr val="233E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A20E852-EA2D-053B-5E7D-775223EB211D}"/>
              </a:ext>
            </a:extLst>
          </p:cNvPr>
          <p:cNvSpPr/>
          <p:nvPr/>
        </p:nvSpPr>
        <p:spPr>
          <a:xfrm>
            <a:off x="-15114" y="6627426"/>
            <a:ext cx="12207112" cy="242633"/>
          </a:xfrm>
          <a:prstGeom prst="rect">
            <a:avLst/>
          </a:prstGeom>
          <a:solidFill>
            <a:srgbClr val="233E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806BAC0-00E0-F3F5-37DE-D7CAC6836920}"/>
              </a:ext>
            </a:extLst>
          </p:cNvPr>
          <p:cNvSpPr txBox="1"/>
          <p:nvPr/>
        </p:nvSpPr>
        <p:spPr>
          <a:xfrm>
            <a:off x="336213" y="55332"/>
            <a:ext cx="5894368" cy="75565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77A2BB">
                    <a:lumMod val="20000"/>
                    <a:lumOff val="80000"/>
                  </a:srgbClr>
                </a:solidFill>
                <a:effectLst/>
                <a:uLnTx/>
                <a:uFillTx/>
                <a:latin typeface="Franklin Gothic Book" panose="020B0503020102020204"/>
                <a:ea typeface="华文楷体" panose="02010600040101010101" pitchFamily="2" charset="-122"/>
                <a:cs typeface="+mn-cs"/>
              </a:rPr>
              <a:t>Main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77A2BB">
                    <a:lumMod val="20000"/>
                    <a:lumOff val="80000"/>
                  </a:srgbClr>
                </a:solidFill>
                <a:effectLst/>
                <a:uLnTx/>
                <a:uFillTx/>
                <a:latin typeface="Franklin Gothic Book" panose="020B0503020102020204"/>
                <a:ea typeface="华文楷体" panose="02010600040101010101" pitchFamily="2" charset="-122"/>
                <a:cs typeface="+mn-cs"/>
              </a:rPr>
              <a:t> 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77A2BB">
                    <a:lumMod val="20000"/>
                    <a:lumOff val="80000"/>
                  </a:srgbClr>
                </a:solidFill>
                <a:effectLst/>
                <a:uLnTx/>
                <a:uFillTx/>
                <a:latin typeface="Franklin Gothic Book" panose="020B0503020102020204"/>
                <a:ea typeface="华文楷体" panose="02010600040101010101" pitchFamily="2" charset="-122"/>
                <a:cs typeface="+mn-cs"/>
              </a:rPr>
              <a:t>Results</a:t>
            </a:r>
          </a:p>
        </p:txBody>
      </p:sp>
      <p:sp>
        <p:nvSpPr>
          <p:cNvPr id="8" name="灯片编号占位符 1">
            <a:extLst>
              <a:ext uri="{FF2B5EF4-FFF2-40B4-BE49-F238E27FC236}">
                <a16:creationId xmlns:a16="http://schemas.microsoft.com/office/drawing/2014/main" id="{A7AB0D31-6850-36D7-A2F4-C8FF4E2F5D33}"/>
              </a:ext>
            </a:extLst>
          </p:cNvPr>
          <p:cNvSpPr txBox="1">
            <a:spLocks/>
          </p:cNvSpPr>
          <p:nvPr/>
        </p:nvSpPr>
        <p:spPr>
          <a:xfrm>
            <a:off x="10968579" y="7573446"/>
            <a:ext cx="1087393" cy="26161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lang="en-US" altLang="zh-CN" sz="1100" kern="1200" baseline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45F8CD-A4FA-4EA3-B53F-4C1A83FF92F6}" type="slidenum"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364F997-77F3-F3F6-CA06-44EBD5FEC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213" y="1056121"/>
            <a:ext cx="8596745" cy="4629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306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15388-B742-E7FE-B445-81FC2BB41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84B600E-8C16-35F3-92F0-8B6CF0E3B31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278416" y="5554332"/>
            <a:ext cx="1087393" cy="261610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45F8CD-A4FA-4EA3-B53F-4C1A83FF92F6}" type="slidenum"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67EB72C-B6E1-86E6-6042-2FA51B2AB2FB}"/>
              </a:ext>
            </a:extLst>
          </p:cNvPr>
          <p:cNvSpPr/>
          <p:nvPr/>
        </p:nvSpPr>
        <p:spPr>
          <a:xfrm>
            <a:off x="-15114" y="-25093"/>
            <a:ext cx="12207114" cy="884172"/>
          </a:xfrm>
          <a:prstGeom prst="rect">
            <a:avLst/>
          </a:prstGeom>
          <a:solidFill>
            <a:srgbClr val="233E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BCA4237-CB5E-20F8-D23A-3BDE3F2CF50F}"/>
              </a:ext>
            </a:extLst>
          </p:cNvPr>
          <p:cNvSpPr/>
          <p:nvPr/>
        </p:nvSpPr>
        <p:spPr>
          <a:xfrm>
            <a:off x="-15114" y="6627426"/>
            <a:ext cx="12207112" cy="242633"/>
          </a:xfrm>
          <a:prstGeom prst="rect">
            <a:avLst/>
          </a:prstGeom>
          <a:solidFill>
            <a:srgbClr val="233E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CDD5D48-E78E-9502-A955-0B9BC47C84FE}"/>
              </a:ext>
            </a:extLst>
          </p:cNvPr>
          <p:cNvSpPr txBox="1"/>
          <p:nvPr/>
        </p:nvSpPr>
        <p:spPr>
          <a:xfrm>
            <a:off x="336213" y="55332"/>
            <a:ext cx="5894368" cy="75565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77A2BB">
                    <a:lumMod val="20000"/>
                    <a:lumOff val="80000"/>
                  </a:srgbClr>
                </a:solidFill>
                <a:effectLst/>
                <a:uLnTx/>
                <a:uFillTx/>
                <a:latin typeface="Franklin Gothic Book" panose="020B0503020102020204"/>
                <a:ea typeface="华文楷体" panose="02010600040101010101" pitchFamily="2" charset="-122"/>
                <a:cs typeface="+mn-cs"/>
              </a:rPr>
              <a:t>Main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77A2BB">
                    <a:lumMod val="20000"/>
                    <a:lumOff val="80000"/>
                  </a:srgbClr>
                </a:solidFill>
                <a:effectLst/>
                <a:uLnTx/>
                <a:uFillTx/>
                <a:latin typeface="Franklin Gothic Book" panose="020B0503020102020204"/>
                <a:ea typeface="华文楷体" panose="02010600040101010101" pitchFamily="2" charset="-122"/>
                <a:cs typeface="+mn-cs"/>
              </a:rPr>
              <a:t> 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77A2BB">
                    <a:lumMod val="20000"/>
                    <a:lumOff val="80000"/>
                  </a:srgbClr>
                </a:solidFill>
                <a:effectLst/>
                <a:uLnTx/>
                <a:uFillTx/>
                <a:latin typeface="Franklin Gothic Book" panose="020B0503020102020204"/>
                <a:ea typeface="华文楷体" panose="02010600040101010101" pitchFamily="2" charset="-122"/>
                <a:cs typeface="+mn-cs"/>
              </a:rPr>
              <a:t>Results</a:t>
            </a:r>
          </a:p>
        </p:txBody>
      </p:sp>
      <p:sp>
        <p:nvSpPr>
          <p:cNvPr id="8" name="灯片编号占位符 1">
            <a:extLst>
              <a:ext uri="{FF2B5EF4-FFF2-40B4-BE49-F238E27FC236}">
                <a16:creationId xmlns:a16="http://schemas.microsoft.com/office/drawing/2014/main" id="{3F7801A4-F11B-D265-093D-3C9EE63175F8}"/>
              </a:ext>
            </a:extLst>
          </p:cNvPr>
          <p:cNvSpPr txBox="1">
            <a:spLocks/>
          </p:cNvSpPr>
          <p:nvPr/>
        </p:nvSpPr>
        <p:spPr>
          <a:xfrm>
            <a:off x="10968579" y="7573446"/>
            <a:ext cx="1087393" cy="26161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lang="en-US" altLang="zh-CN" sz="1100" kern="1200" baseline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45F8CD-A4FA-4EA3-B53F-4C1A83FF92F6}" type="slidenum"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4A4D92F-C51B-3249-B1A9-16FD5B971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715" y="1899734"/>
            <a:ext cx="11523453" cy="3444062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04D5EABD-C93D-AE90-75C9-9EFE98A505F6}"/>
              </a:ext>
            </a:extLst>
          </p:cNvPr>
          <p:cNvSpPr txBox="1"/>
          <p:nvPr/>
        </p:nvSpPr>
        <p:spPr>
          <a:xfrm>
            <a:off x="336213" y="1403817"/>
            <a:ext cx="11449188" cy="4323037"/>
          </a:xfrm>
          <a:prstGeom prst="rect">
            <a:avLst/>
          </a:prstGeom>
          <a:noFill/>
          <a:ln w="3492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92667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F2150-75D5-D9C4-860F-D2E31A015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6CE35DE-92A3-6272-7661-D73C98FD754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278416" y="5554332"/>
            <a:ext cx="1087393" cy="261610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45F8CD-A4FA-4EA3-B53F-4C1A83FF92F6}" type="slidenum"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A81F3FA-9472-8810-1087-9292C178D23A}"/>
              </a:ext>
            </a:extLst>
          </p:cNvPr>
          <p:cNvSpPr/>
          <p:nvPr/>
        </p:nvSpPr>
        <p:spPr>
          <a:xfrm>
            <a:off x="-15114" y="-25093"/>
            <a:ext cx="12207114" cy="884172"/>
          </a:xfrm>
          <a:prstGeom prst="rect">
            <a:avLst/>
          </a:prstGeom>
          <a:solidFill>
            <a:srgbClr val="233E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FB849B6-F6AD-BD1D-3E88-C5E1F55AFB8E}"/>
              </a:ext>
            </a:extLst>
          </p:cNvPr>
          <p:cNvSpPr/>
          <p:nvPr/>
        </p:nvSpPr>
        <p:spPr>
          <a:xfrm>
            <a:off x="-15114" y="6627426"/>
            <a:ext cx="12207112" cy="242633"/>
          </a:xfrm>
          <a:prstGeom prst="rect">
            <a:avLst/>
          </a:prstGeom>
          <a:solidFill>
            <a:srgbClr val="233E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226C772-DE49-DA62-53DC-7705ECECA3BE}"/>
              </a:ext>
            </a:extLst>
          </p:cNvPr>
          <p:cNvSpPr txBox="1"/>
          <p:nvPr/>
        </p:nvSpPr>
        <p:spPr>
          <a:xfrm>
            <a:off x="336213" y="55332"/>
            <a:ext cx="5894368" cy="75565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77A2BB">
                    <a:lumMod val="20000"/>
                    <a:lumOff val="80000"/>
                  </a:srgbClr>
                </a:solidFill>
                <a:effectLst/>
                <a:uLnTx/>
                <a:uFillTx/>
                <a:latin typeface="Franklin Gothic Book" panose="020B0503020102020204"/>
                <a:ea typeface="华文楷体" panose="02010600040101010101" pitchFamily="2" charset="-122"/>
                <a:cs typeface="+mn-cs"/>
              </a:rPr>
              <a:t>Main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77A2BB">
                    <a:lumMod val="20000"/>
                    <a:lumOff val="80000"/>
                  </a:srgbClr>
                </a:solidFill>
                <a:effectLst/>
                <a:uLnTx/>
                <a:uFillTx/>
                <a:latin typeface="Franklin Gothic Book" panose="020B0503020102020204"/>
                <a:ea typeface="华文楷体" panose="02010600040101010101" pitchFamily="2" charset="-122"/>
                <a:cs typeface="+mn-cs"/>
              </a:rPr>
              <a:t> 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77A2BB">
                    <a:lumMod val="20000"/>
                    <a:lumOff val="80000"/>
                  </a:srgbClr>
                </a:solidFill>
                <a:effectLst/>
                <a:uLnTx/>
                <a:uFillTx/>
                <a:latin typeface="Franklin Gothic Book" panose="020B0503020102020204"/>
                <a:ea typeface="华文楷体" panose="02010600040101010101" pitchFamily="2" charset="-122"/>
                <a:cs typeface="+mn-cs"/>
              </a:rPr>
              <a:t>Results</a:t>
            </a:r>
          </a:p>
        </p:txBody>
      </p:sp>
      <p:sp>
        <p:nvSpPr>
          <p:cNvPr id="8" name="灯片编号占位符 1">
            <a:extLst>
              <a:ext uri="{FF2B5EF4-FFF2-40B4-BE49-F238E27FC236}">
                <a16:creationId xmlns:a16="http://schemas.microsoft.com/office/drawing/2014/main" id="{434CE2B0-F1AF-2442-7726-BFDE67F8449F}"/>
              </a:ext>
            </a:extLst>
          </p:cNvPr>
          <p:cNvSpPr txBox="1">
            <a:spLocks/>
          </p:cNvSpPr>
          <p:nvPr/>
        </p:nvSpPr>
        <p:spPr>
          <a:xfrm>
            <a:off x="10968579" y="7573446"/>
            <a:ext cx="1087393" cy="26161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lang="en-US" altLang="zh-CN" sz="1100" kern="1200" baseline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45F8CD-A4FA-4EA3-B53F-4C1A83FF92F6}" type="slidenum"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C4EDDA6-E3CF-5DA7-7B94-B3A7E2E15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190" y="1867756"/>
            <a:ext cx="11561620" cy="2951255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CC2132F4-1153-7CA7-4F6C-49E5C7F9B6AA}"/>
              </a:ext>
            </a:extLst>
          </p:cNvPr>
          <p:cNvSpPr txBox="1"/>
          <p:nvPr/>
        </p:nvSpPr>
        <p:spPr>
          <a:xfrm>
            <a:off x="315190" y="1670563"/>
            <a:ext cx="11561620" cy="3732710"/>
          </a:xfrm>
          <a:prstGeom prst="rect">
            <a:avLst/>
          </a:prstGeom>
          <a:noFill/>
          <a:ln w="3492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6421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D55294-1CEB-4412-3906-0B1F403E4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4D8DD77-CADA-5AB4-A5A5-C77C71A18B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278416" y="5554332"/>
            <a:ext cx="1087393" cy="261610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45F8CD-A4FA-4EA3-B53F-4C1A83FF92F6}" type="slidenum"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B40CE6D-F973-EE36-C977-A1EA6AB927EE}"/>
              </a:ext>
            </a:extLst>
          </p:cNvPr>
          <p:cNvSpPr/>
          <p:nvPr/>
        </p:nvSpPr>
        <p:spPr>
          <a:xfrm>
            <a:off x="-15114" y="-25093"/>
            <a:ext cx="12207114" cy="884172"/>
          </a:xfrm>
          <a:prstGeom prst="rect">
            <a:avLst/>
          </a:prstGeom>
          <a:solidFill>
            <a:srgbClr val="233E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EB679B1-244F-0DD2-4D14-34B75F0D4769}"/>
              </a:ext>
            </a:extLst>
          </p:cNvPr>
          <p:cNvSpPr/>
          <p:nvPr/>
        </p:nvSpPr>
        <p:spPr>
          <a:xfrm>
            <a:off x="-15114" y="6627426"/>
            <a:ext cx="12207112" cy="242633"/>
          </a:xfrm>
          <a:prstGeom prst="rect">
            <a:avLst/>
          </a:prstGeom>
          <a:solidFill>
            <a:srgbClr val="233E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24D58A0-8B44-BC93-17AD-53E54CD6B537}"/>
              </a:ext>
            </a:extLst>
          </p:cNvPr>
          <p:cNvSpPr txBox="1"/>
          <p:nvPr/>
        </p:nvSpPr>
        <p:spPr>
          <a:xfrm>
            <a:off x="49232" y="14118"/>
            <a:ext cx="5894368" cy="67383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233E6F"/>
                </a:solidFill>
                <a:effectLst/>
                <a:uLnTx/>
                <a:uFillTx/>
                <a:latin typeface="Times New Roman" panose="02020503050405090304" pitchFamily="18" charset="0"/>
                <a:ea typeface="宋体-简" panose="02010800040101010101" pitchFamily="2" charset="-122"/>
                <a:cs typeface="Times New Roman" panose="02020503050405090304" pitchFamily="18" charset="0"/>
              </a:rPr>
              <a:t>Results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srgbClr val="77A2BB">
                  <a:lumMod val="20000"/>
                  <a:lumOff val="80000"/>
                </a:srgbClr>
              </a:solidFill>
              <a:effectLst/>
              <a:uLnTx/>
              <a:uFillTx/>
              <a:latin typeface="Franklin Gothic Book" panose="020B0503020102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8" name="灯片编号占位符 1">
            <a:extLst>
              <a:ext uri="{FF2B5EF4-FFF2-40B4-BE49-F238E27FC236}">
                <a16:creationId xmlns:a16="http://schemas.microsoft.com/office/drawing/2014/main" id="{78FB5503-C140-541E-D596-62076262F388}"/>
              </a:ext>
            </a:extLst>
          </p:cNvPr>
          <p:cNvSpPr txBox="1">
            <a:spLocks/>
          </p:cNvSpPr>
          <p:nvPr/>
        </p:nvSpPr>
        <p:spPr>
          <a:xfrm>
            <a:off x="10968579" y="7573446"/>
            <a:ext cx="1087393" cy="26161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lang="en-US" altLang="zh-CN" sz="1100" kern="1200" baseline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45F8CD-A4FA-4EA3-B53F-4C1A83FF92F6}" type="slidenum"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8355F81-977D-F0E2-BF5D-88C944A0E5C0}"/>
              </a:ext>
            </a:extLst>
          </p:cNvPr>
          <p:cNvSpPr txBox="1"/>
          <p:nvPr/>
        </p:nvSpPr>
        <p:spPr>
          <a:xfrm>
            <a:off x="49232" y="14118"/>
            <a:ext cx="5894368" cy="73661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77A2BB">
                    <a:lumMod val="20000"/>
                    <a:lumOff val="80000"/>
                  </a:srgbClr>
                </a:solidFill>
                <a:effectLst/>
                <a:uLnTx/>
                <a:uFillTx/>
                <a:latin typeface="Franklin Gothic Book" panose="020B0503020102020204"/>
                <a:ea typeface="华文楷体" panose="02010600040101010101" pitchFamily="2" charset="-122"/>
                <a:cs typeface="+mn-cs"/>
              </a:rPr>
              <a:t>Discussion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9F59192-C281-D539-FBBA-674226CFCF03}"/>
              </a:ext>
            </a:extLst>
          </p:cNvPr>
          <p:cNvSpPr txBox="1"/>
          <p:nvPr/>
        </p:nvSpPr>
        <p:spPr>
          <a:xfrm>
            <a:off x="232280" y="1460362"/>
            <a:ext cx="10896168" cy="1015663"/>
          </a:xfrm>
          <a:prstGeom prst="rect">
            <a:avLst/>
          </a:prstGeom>
          <a:solidFill>
            <a:schemeClr val="bg1"/>
          </a:solidFill>
          <a:ln w="34925" cap="rnd">
            <a:noFill/>
            <a:prstDash val="dash"/>
          </a:ln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假设可否减弱？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是否可以做随机及加速推广？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数值效果暂时未知。</a:t>
            </a:r>
            <a:endParaRPr lang="en-US" altLang="zh-CN" sz="20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3656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剪切">
  <a:themeElements>
    <a:clrScheme name="剪切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剪切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剪切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401</Words>
  <Application>Microsoft Macintosh PowerPoint</Application>
  <PresentationFormat>宽屏</PresentationFormat>
  <Paragraphs>78</Paragraphs>
  <Slides>11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等线</vt:lpstr>
      <vt:lpstr>等线 Light</vt:lpstr>
      <vt:lpstr>Arial</vt:lpstr>
      <vt:lpstr>Cambria Math</vt:lpstr>
      <vt:lpstr>Franklin Gothic Book</vt:lpstr>
      <vt:lpstr>Helvetica</vt:lpstr>
      <vt:lpstr>Times New Roman</vt:lpstr>
      <vt:lpstr>Wingdings</vt:lpstr>
      <vt:lpstr>Office 主题​​</vt:lpstr>
      <vt:lpstr>剪切</vt:lpstr>
      <vt:lpstr>A new primal dual method for fully nonconvex composite optimization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Rail Li</dc:creator>
  <cp:lastModifiedBy>Rail Li</cp:lastModifiedBy>
  <cp:revision>1</cp:revision>
  <dcterms:created xsi:type="dcterms:W3CDTF">2024-12-02T13:29:14Z</dcterms:created>
  <dcterms:modified xsi:type="dcterms:W3CDTF">2024-12-02T15:23:01Z</dcterms:modified>
</cp:coreProperties>
</file>